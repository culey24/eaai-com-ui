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10287000" cx="18288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TtNu2U5WmfXiEXE4Or6Q5n4Cx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a79c8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da79c88b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5f71034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f35f71034b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35f71034b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f35f71034b_2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5f71034b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f35f71034b_2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5f71034b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35f71034b_2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35f71034b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35f71034b_2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35f71034b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35f71034b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5f71034b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f35f71034b_2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5f71034b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f35f71034b_2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5f71034b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35f71034b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35f71034b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f35f71034b_2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35f71034b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f35f71034b_2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35f71034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35f71034b_2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35f71034b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f35f71034b_2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35f71034b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f35f71034b_2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35f71034b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f35f71034b_2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35f71034b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f35f71034b_2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35f71034b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35f71034b_2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5f71034b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f35f71034b_2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35f71034b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f35f71034b_2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35f71034b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f35f71034b_2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35f71034b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f35f71034b_2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5f71034b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f35f71034b_2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35f71034b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f35f71034b_2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35f71034b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3f35f71034b_2_2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da79c88bb_0_8"/>
          <p:cNvSpPr/>
          <p:nvPr/>
        </p:nvSpPr>
        <p:spPr>
          <a:xfrm rot="-8100000">
            <a:off x="12488683" y="-3296726"/>
            <a:ext cx="10644226" cy="865085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6da79c88bb_0_8"/>
          <p:cNvSpPr/>
          <p:nvPr/>
        </p:nvSpPr>
        <p:spPr>
          <a:xfrm rot="-8606732">
            <a:off x="-7159680" y="55698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36da79c88b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775" y="9057100"/>
            <a:ext cx="8398076" cy="267833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da79c88bb_0_8"/>
          <p:cNvSpPr txBox="1"/>
          <p:nvPr/>
        </p:nvSpPr>
        <p:spPr>
          <a:xfrm>
            <a:off x="-181200" y="4081500"/>
            <a:ext cx="18650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Logistics Regression for </a:t>
            </a:r>
            <a:endParaRPr b="1" sz="7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Text Classification</a:t>
            </a:r>
            <a:endParaRPr b="1" sz="7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0"/>
          <p:cNvSpPr/>
          <p:nvPr/>
        </p:nvSpPr>
        <p:spPr>
          <a:xfrm rot="-8100000">
            <a:off x="-9807545" y="-122201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0"/>
          <p:cNvSpPr/>
          <p:nvPr/>
        </p:nvSpPr>
        <p:spPr>
          <a:xfrm flipH="1" rot="-9301188">
            <a:off x="10445832" y="-3243357"/>
            <a:ext cx="11455094" cy="7528992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70"/>
          <p:cNvSpPr txBox="1"/>
          <p:nvPr/>
        </p:nvSpPr>
        <p:spPr>
          <a:xfrm>
            <a:off x="2426930" y="32339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70"/>
          <p:cNvSpPr txBox="1"/>
          <p:nvPr/>
        </p:nvSpPr>
        <p:spPr>
          <a:xfrm>
            <a:off x="3980325" y="3257100"/>
            <a:ext cx="1470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</a:t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70"/>
          <p:cNvSpPr txBox="1"/>
          <p:nvPr/>
        </p:nvSpPr>
        <p:spPr>
          <a:xfrm>
            <a:off x="2426930" y="42626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70"/>
          <p:cNvSpPr txBox="1"/>
          <p:nvPr/>
        </p:nvSpPr>
        <p:spPr>
          <a:xfrm>
            <a:off x="3980320" y="4285800"/>
            <a:ext cx="1168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Neural-based Roadmap of NLP</a:t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70"/>
          <p:cNvSpPr txBox="1"/>
          <p:nvPr/>
        </p:nvSpPr>
        <p:spPr>
          <a:xfrm>
            <a:off x="2426930" y="52913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70"/>
          <p:cNvSpPr txBox="1"/>
          <p:nvPr/>
        </p:nvSpPr>
        <p:spPr>
          <a:xfrm>
            <a:off x="3980321" y="5314500"/>
            <a:ext cx="1344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Logistics Regression for Text Classification</a:t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70"/>
          <p:cNvSpPr txBox="1"/>
          <p:nvPr/>
        </p:nvSpPr>
        <p:spPr>
          <a:xfrm>
            <a:off x="2426930" y="63200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70"/>
          <p:cNvSpPr txBox="1"/>
          <p:nvPr/>
        </p:nvSpPr>
        <p:spPr>
          <a:xfrm>
            <a:off x="3980336" y="6343192"/>
            <a:ext cx="976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Demonstration and Assignment</a:t>
            </a:r>
            <a:endParaRPr b="1" sz="4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70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1"/>
          <p:cNvSpPr/>
          <p:nvPr/>
        </p:nvSpPr>
        <p:spPr>
          <a:xfrm rot="-8100000">
            <a:off x="-9398674" y="-44088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71"/>
          <p:cNvSpPr/>
          <p:nvPr/>
        </p:nvSpPr>
        <p:spPr>
          <a:xfrm rot="-8606732">
            <a:off x="13776539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1"/>
          <p:cNvSpPr txBox="1"/>
          <p:nvPr/>
        </p:nvSpPr>
        <p:spPr>
          <a:xfrm>
            <a:off x="3031298" y="2260006"/>
            <a:ext cx="13008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</a:pPr>
            <a:r>
              <a:rPr lang="en-US" sz="4200">
                <a:latin typeface="Montserrat"/>
                <a:ea typeface="Montserrat"/>
                <a:cs typeface="Montserrat"/>
                <a:sym typeface="Montserrat"/>
              </a:rPr>
              <a:t>Machine Learning Task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  <a:p>
            <a:pPr indent="-4953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</a:pPr>
            <a:r>
              <a:rPr lang="en-US" sz="4200">
                <a:latin typeface="Montserrat"/>
                <a:ea typeface="Montserrat"/>
                <a:cs typeface="Montserrat"/>
                <a:sym typeface="Montserrat"/>
              </a:rPr>
              <a:t>The tf.idf weights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  <a:p>
            <a:pPr indent="-4953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</a:pPr>
            <a:r>
              <a:rPr lang="en-US" sz="4200">
                <a:latin typeface="Montserrat"/>
                <a:ea typeface="Montserrat"/>
                <a:cs typeface="Montserrat"/>
                <a:sym typeface="Montserrat"/>
              </a:rPr>
              <a:t>Neural-based approach 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71"/>
          <p:cNvSpPr txBox="1"/>
          <p:nvPr/>
        </p:nvSpPr>
        <p:spPr>
          <a:xfrm>
            <a:off x="749825" y="932200"/>
            <a:ext cx="1720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2"/>
          <p:cNvSpPr/>
          <p:nvPr/>
        </p:nvSpPr>
        <p:spPr>
          <a:xfrm rot="-7063110">
            <a:off x="-4579034" y="-61026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2"/>
          <p:cNvSpPr/>
          <p:nvPr/>
        </p:nvSpPr>
        <p:spPr>
          <a:xfrm rot="-8100000">
            <a:off x="12294831" y="-38744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2"/>
          <p:cNvSpPr/>
          <p:nvPr/>
        </p:nvSpPr>
        <p:spPr>
          <a:xfrm rot="-8606732">
            <a:off x="12900237" y="923881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850" y="1185720"/>
            <a:ext cx="17858150" cy="7157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3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478" y="-8"/>
            <a:ext cx="14576775" cy="998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3"/>
          <p:cNvSpPr/>
          <p:nvPr/>
        </p:nvSpPr>
        <p:spPr>
          <a:xfrm rot="-1111536">
            <a:off x="12945008" y="-5384732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5f71034b_1_7"/>
          <p:cNvSpPr/>
          <p:nvPr/>
        </p:nvSpPr>
        <p:spPr>
          <a:xfrm rot="-8100000">
            <a:off x="-9398674" y="-44088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f35f71034b_1_7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35f71034b_1_7"/>
          <p:cNvSpPr txBox="1"/>
          <p:nvPr/>
        </p:nvSpPr>
        <p:spPr>
          <a:xfrm>
            <a:off x="2349575" y="1073950"/>
            <a:ext cx="1720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Document Collection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3f35f71034b_1_7"/>
          <p:cNvSpPr txBox="1"/>
          <p:nvPr/>
        </p:nvSpPr>
        <p:spPr>
          <a:xfrm>
            <a:off x="3078000" y="2328525"/>
            <a:ext cx="13952400" cy="4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-330200" lvl="0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 collection of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documents can be represented in the vector space model by a term-document matrix.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30200" lvl="0" marL="25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 entry in the matrix corresponds to the </a:t>
            </a:r>
            <a:r>
              <a:rPr lang="en-US" sz="42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“weight” of a term in the document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; zero means the term has no significance in the document or it simply doesn’t exist in the document.</a:t>
            </a:r>
            <a:endParaRPr baseline="-25000" i="1"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4" name="Google Shape;134;g3f35f71034b_1_7"/>
          <p:cNvSpPr txBox="1"/>
          <p:nvPr/>
        </p:nvSpPr>
        <p:spPr>
          <a:xfrm>
            <a:off x="8054069" y="6925425"/>
            <a:ext cx="6262800" cy="27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….      T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1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…   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</a:t>
            </a:r>
            <a:endParaRPr b="0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…   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</a:t>
            </a:r>
            <a:endParaRPr b="0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:      :               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:      :               :</a:t>
            </a:r>
            <a:endParaRPr b="0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1n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2n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…      w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5f71034b_2_39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3f35f71034b_2_39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35f71034b_2_39"/>
          <p:cNvSpPr txBox="1"/>
          <p:nvPr/>
        </p:nvSpPr>
        <p:spPr>
          <a:xfrm>
            <a:off x="2349575" y="1073950"/>
            <a:ext cx="17205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Term Weights: Term Frequency</a:t>
            </a:r>
            <a:endParaRPr sz="4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f35f71034b_2_39"/>
          <p:cNvSpPr txBox="1"/>
          <p:nvPr/>
        </p:nvSpPr>
        <p:spPr>
          <a:xfrm>
            <a:off x="1539000" y="2328525"/>
            <a:ext cx="16868400" cy="4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More frequent terms in a document are more important, i.e. more indicative of the topic.</a:t>
            </a:r>
            <a:endParaRPr sz="4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81000" lvl="0" marL="9906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f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ij 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 frequency of term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 document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j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4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81000" lvl="0" marL="9906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953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May want to normalize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term frequency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tf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 by dividing by the frequency of the most common term in the document:</a:t>
            </a:r>
            <a:endParaRPr sz="4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81000" lvl="0" marL="9906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tf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ij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ij  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/ max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  <a:r>
              <a:rPr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aseline="-25000" i="1"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ij</a:t>
            </a:r>
            <a:r>
              <a:rPr lang="en-US" sz="4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42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5f71034b_2_47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f35f71034b_2_47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35f71034b_2_47"/>
          <p:cNvSpPr txBox="1"/>
          <p:nvPr/>
        </p:nvSpPr>
        <p:spPr>
          <a:xfrm>
            <a:off x="838106" y="699075"/>
            <a:ext cx="1671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825" lIns="121700" spcFirstLastPara="1" rIns="121700" wrap="square" tIns="6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Term Weights: Inverse Document Frequency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f35f71034b_2_47"/>
          <p:cNvSpPr txBox="1"/>
          <p:nvPr/>
        </p:nvSpPr>
        <p:spPr>
          <a:xfrm>
            <a:off x="1506250" y="2024775"/>
            <a:ext cx="15848100" cy="6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-55880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Terms that appear in many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different 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documents are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less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indicative of overall topic.</a:t>
            </a:r>
            <a:endParaRPr i="1"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df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= document frequency of term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  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        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= number of documents containing term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    idf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= inverse document frequency of term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i, 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         = log</a:t>
            </a:r>
            <a:r>
              <a:rPr baseline="-25000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N/ df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)  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            (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N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: total number of documents)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558801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 indication of a term’s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discrimination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power.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558801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Log used to dampen the effect relative to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tf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5f71034b_2_56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f35f71034b_2_56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35f71034b_2_56"/>
          <p:cNvSpPr txBox="1"/>
          <p:nvPr/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35f71034b_2_56"/>
          <p:cNvSpPr txBox="1"/>
          <p:nvPr/>
        </p:nvSpPr>
        <p:spPr>
          <a:xfrm>
            <a:off x="3976840" y="69907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825" lIns="121700" spcFirstLastPara="1" rIns="121700" wrap="square" tIns="608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TF-IDF Weighting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f35f71034b_2_56"/>
          <p:cNvSpPr txBox="1"/>
          <p:nvPr/>
        </p:nvSpPr>
        <p:spPr>
          <a:xfrm>
            <a:off x="838005" y="2024775"/>
            <a:ext cx="15746700" cy="6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rmAutofit/>
          </a:bodyPr>
          <a:lstStyle/>
          <a:p>
            <a:pPr indent="-546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 typical combined term importance indicator is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tf-idf weighting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: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w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ij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=  tf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ij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idf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  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=  tf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ij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log</a:t>
            </a:r>
            <a:r>
              <a:rPr baseline="-25000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  <a:r>
              <a:rPr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N/ df</a:t>
            </a:r>
            <a:r>
              <a:rPr baseline="-25000" i="1"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42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endParaRPr sz="4200">
              <a:solidFill>
                <a:srgbClr val="000099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5461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 term occurring frequently in the document but rarely in the rest of the collection is given high weight.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5461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Many other ways of determining term weights have been proposed.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5461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ourier"/>
              <a:buChar char="•"/>
            </a:pP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Experimentally, </a:t>
            </a:r>
            <a:r>
              <a:rPr i="1"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tf-idf</a:t>
            </a:r>
            <a:r>
              <a:rPr lang="en-US" sz="4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has been found to work well.</a:t>
            </a:r>
            <a:endParaRPr sz="42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35f71034b_2_66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f35f71034b_2_66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35f71034b_2_66"/>
          <p:cNvSpPr txBox="1"/>
          <p:nvPr/>
        </p:nvSpPr>
        <p:spPr>
          <a:xfrm>
            <a:off x="4381840" y="25357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825" lIns="121700" spcFirstLastPara="1" rIns="121700" wrap="square" tIns="60825">
            <a:normAutofit fontScale="92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Computing TF-IDF -- An Example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f35f71034b_2_66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Given a document containing terms with given</a:t>
            </a:r>
            <a:r>
              <a:rPr lang="en-US" sz="4000">
                <a:latin typeface="Courier"/>
                <a:ea typeface="Courier"/>
                <a:cs typeface="Courier"/>
                <a:sym typeface="Courier"/>
              </a:rPr>
              <a:t> fr</a:t>
            </a: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equencies: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A(3), B(2), C(1)</a:t>
            </a:r>
            <a:endParaRPr sz="4000">
              <a:solidFill>
                <a:srgbClr val="000099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Assume collection contains 10,000 documents and 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document frequencies of these terms are: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A(50), B(1300), C(250)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Then: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A:  tf = 3/3;  idf = log</a:t>
            </a:r>
            <a:r>
              <a:rPr baseline="-25000"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(10000/50) = 7.6;     tf-idf = 7.6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B:  tf = 2/3;  idf = log</a:t>
            </a:r>
            <a:r>
              <a:rPr baseline="-25000"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2 </a:t>
            </a: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(10000/1300) = 2.9; tf-idf = 2.0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C:  tf = 1/3;  idf = log</a:t>
            </a:r>
            <a:r>
              <a:rPr baseline="-25000"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2 </a:t>
            </a:r>
            <a:r>
              <a:rPr lang="en-US" sz="4000">
                <a:solidFill>
                  <a:srgbClr val="000099"/>
                </a:solidFill>
                <a:latin typeface="Courier"/>
                <a:ea typeface="Courier"/>
                <a:cs typeface="Courier"/>
                <a:sym typeface="Courier"/>
              </a:rPr>
              <a:t>(10000/250) = 5.3;   tf-idf = 1.8</a:t>
            </a:r>
            <a:endParaRPr sz="4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5f71034b_2_76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g3f35f71034b_2_76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f35f71034b_2_76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5" name="Google Shape;175;g3f35f71034b_2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25" y="3130950"/>
            <a:ext cx="17478224" cy="540517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35f71034b_2_76"/>
          <p:cNvSpPr txBox="1"/>
          <p:nvPr/>
        </p:nvSpPr>
        <p:spPr>
          <a:xfrm>
            <a:off x="3661500" y="1253400"/>
            <a:ext cx="1096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Neural-based Approaches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5f71034b_2_86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f35f71034b_2_86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35f71034b_2_86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f35f71034b_2_86"/>
          <p:cNvSpPr txBox="1"/>
          <p:nvPr/>
        </p:nvSpPr>
        <p:spPr>
          <a:xfrm>
            <a:off x="3661500" y="767400"/>
            <a:ext cx="1096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Why Neural?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g3f35f71034b_2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029" y="2056228"/>
            <a:ext cx="15525950" cy="750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5f71034b_2_95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f35f71034b_2_95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35f71034b_2_95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f35f71034b_2_95"/>
          <p:cNvSpPr txBox="1"/>
          <p:nvPr/>
        </p:nvSpPr>
        <p:spPr>
          <a:xfrm>
            <a:off x="2632500" y="769500"/>
            <a:ext cx="14357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Neural-based Milestones for NLP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g3f35f71034b_2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875" y="2327325"/>
            <a:ext cx="10195151" cy="5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f35f71034b_2_95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Character-based representations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Adversarial learning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Reinforcement learning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Conditional random fields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Bleu Latent Dirichlet Allocation Wikipedia exploitation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35f71034b_2_107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3f35f71034b_2_107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35f71034b_2_107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3f35f71034b_2_107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g3f35f71034b_2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499" y="2327323"/>
            <a:ext cx="12317711" cy="62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35f71034b_2_107"/>
          <p:cNvSpPr txBox="1"/>
          <p:nvPr/>
        </p:nvSpPr>
        <p:spPr>
          <a:xfrm>
            <a:off x="3139147" y="1027164"/>
            <a:ext cx="109701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Problem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35f71034b_2_118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g3f35f71034b_2_118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35f71034b_2_118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f35f71034b_2_118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g3f35f71034b_2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88" y="0"/>
            <a:ext cx="17418227" cy="100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35f71034b_2_128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f35f71034b_2_128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35f71034b_2_128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f35f71034b_2_128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g3f35f71034b_2_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25" y="530803"/>
            <a:ext cx="16861277" cy="89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5f71034b_2_137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f35f71034b_2_137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35f71034b_2_137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f35f71034b_2_137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g3f35f71034b_2_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22" y="486375"/>
            <a:ext cx="16746374" cy="94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5f71034b_2_146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f35f71034b_2_146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35f71034b_2_146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3f35f71034b_2_146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g3f35f71034b_2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880" y="0"/>
            <a:ext cx="1744317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5f71034b_2_155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3f35f71034b_2_155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35f71034b_2_155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g3f35f71034b_2_155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0" name="Google Shape;250;g3f35f71034b_2_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21721"/>
            <a:ext cx="18144000" cy="9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35f71034b_2_164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3f35f71034b_2_164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35f71034b_2_164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3f35f71034b_2_164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g3f35f71034b_2_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25" y="0"/>
            <a:ext cx="1772032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35f71034b_2_173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f35f71034b_2_173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35f71034b_2_173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g3f35f71034b_2_173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g3f35f71034b_2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25" y="0"/>
            <a:ext cx="1772032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35f71034b_2_181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f35f71034b_2_181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35f71034b_2_181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f35f71034b_2_181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7" name="Google Shape;277;g3f35f71034b_2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925"/>
            <a:ext cx="18144001" cy="1013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35f71034b_2_190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f35f71034b_2_190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35f71034b_2_190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f35f71034b_2_190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6" name="Google Shape;286;g3f35f71034b_2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275" y="0"/>
            <a:ext cx="17088144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35f71034b_2_198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g3f35f71034b_2_198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35f71034b_2_198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f35f71034b_2_198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5" name="Google Shape;295;g3f35f71034b_2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05704"/>
            <a:ext cx="17954301" cy="908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35f71034b_2_205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g3f35f71034b_2_205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35f71034b_2_205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f35f71034b_2_205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4" name="Google Shape;304;g3f35f71034b_2_2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05" y="1045904"/>
            <a:ext cx="17710800" cy="819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35f71034b_2_212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g3f35f71034b_2_212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35f71034b_2_212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g3f35f71034b_2_212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g3f35f71034b_2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802" y="0"/>
            <a:ext cx="1741591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35f71034b_2_219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g3f35f71034b_2_219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35f71034b_2_219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g3f35f71034b_2_219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2" name="Google Shape;322;g3f35f71034b_2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1" y="36896"/>
            <a:ext cx="17953175" cy="100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35f71034b_2_230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g3f35f71034b_2_230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35f71034b_2_230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g3f35f71034b_2_230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1" name="Google Shape;331;g3f35f71034b_2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920" y="0"/>
            <a:ext cx="17316651" cy="101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35f71034b_2_237"/>
          <p:cNvSpPr/>
          <p:nvPr/>
        </p:nvSpPr>
        <p:spPr>
          <a:xfrm rot="-8100000">
            <a:off x="-10755424" y="-517831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Classical Machine Learning Techniques for NLP	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g3f35f71034b_2_237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35f71034b_2_237"/>
          <p:cNvSpPr txBox="1"/>
          <p:nvPr/>
        </p:nvSpPr>
        <p:spPr>
          <a:xfrm>
            <a:off x="577125" y="1253400"/>
            <a:ext cx="17710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g3f35f71034b_2_237"/>
          <p:cNvSpPr/>
          <p:nvPr/>
        </p:nvSpPr>
        <p:spPr>
          <a:xfrm>
            <a:off x="11259000" y="2327325"/>
            <a:ext cx="6885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1700" spcFirstLastPara="1" rIns="121700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0" name="Google Shape;340;g3f35f71034b_2_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6" y="0"/>
            <a:ext cx="17943651" cy="101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/>
        </p:nvSpPr>
        <p:spPr>
          <a:xfrm>
            <a:off x="1028700" y="3412483"/>
            <a:ext cx="1218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7"/>
          <p:cNvSpPr/>
          <p:nvPr/>
        </p:nvSpPr>
        <p:spPr>
          <a:xfrm rot="-1770831">
            <a:off x="9624610" y="4440432"/>
            <a:ext cx="12108848" cy="9841191"/>
          </a:xfrm>
          <a:custGeom>
            <a:rect b="b" l="l" r="r" t="t"/>
            <a:pathLst>
              <a:path extrusionOk="0"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7"/>
          <p:cNvSpPr txBox="1"/>
          <p:nvPr/>
        </p:nvSpPr>
        <p:spPr>
          <a:xfrm>
            <a:off x="2112722" y="5071350"/>
            <a:ext cx="1573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2BB4D4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Song Thiên Long Nguyễn</dc:creator>
</cp:coreProperties>
</file>
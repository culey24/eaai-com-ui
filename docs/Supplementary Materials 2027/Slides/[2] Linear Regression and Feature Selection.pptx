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gRayYkm0YZY8wrmX9iwI1o/Fu6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6da79c88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" name="Google Shape;29;g36da79c88bb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937be6f6d_0_260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120" name="Google Shape;120;g3f937be6f6d_0_260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g3f937be6f6d_0_260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37be6f6d_0_281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143" name="Google Shape;143;g3f937be6f6d_0_281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g3f937be6f6d_0_281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37be6f6d_0_288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153" name="Google Shape;153;g3f937be6f6d_0_288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g3f937be6f6d_0_288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37be6f6d_0_295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163" name="Google Shape;163;g3f937be6f6d_0_295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3f937be6f6d_0_295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937be6f6d_0_308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179" name="Google Shape;179;g3f937be6f6d_0_308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f937be6f6d_0_308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937be6f6d_0_321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195" name="Google Shape;195;g3f937be6f6d_0_321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f937be6f6d_0_321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937be6f6d_0_342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219" name="Google Shape;219;g3f937be6f6d_0_342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f937be6f6d_0_342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937be6f6d_0_357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237" name="Google Shape;237;g3f937be6f6d_0_357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f937be6f6d_0_357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937be6f6d_0_364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246" name="Google Shape;246;g3f937be6f6d_0_364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f937be6f6d_0_364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937be6f6d_0_372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257" name="Google Shape;257;g3f937be6f6d_0_372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g3f937be6f6d_0_372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937be6f6d_0_381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269" name="Google Shape;269;g3f937be6f6d_0_381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3f937be6f6d_0_381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937be6f6d_0_390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280" name="Google Shape;280;g3f937be6f6d_0_390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f937be6f6d_0_390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937be6f6d_0_397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290" name="Google Shape;290;g3f937be6f6d_0_397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g3f937be6f6d_0_397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937be6f6d_0_408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304" name="Google Shape;304;g3f937be6f6d_0_408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g3f937be6f6d_0_408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937be6f6d_0_419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318" name="Google Shape;318;g3f937be6f6d_0_419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f937be6f6d_0_419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937be6f6d_0_429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331" name="Google Shape;331;g3f937be6f6d_0_429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g3f937be6f6d_0_429:notes"/>
          <p:cNvSpPr txBox="1"/>
          <p:nvPr>
            <p:ph idx="1" type="body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937be6f6d_0_440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345" name="Google Shape;345;g3f937be6f6d_0_440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g3f937be6f6d_0_440:notes"/>
          <p:cNvSpPr txBox="1"/>
          <p:nvPr>
            <p:ph idx="1" type="body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937be6f6d_0_448:notes"/>
          <p:cNvSpPr txBox="1"/>
          <p:nvPr>
            <p:ph idx="12" type="sldNum"/>
          </p:nvPr>
        </p:nvSpPr>
        <p:spPr>
          <a:xfrm>
            <a:off x="3884414" y="8685893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/>
              <a:t>‹#›</a:t>
            </a:fld>
            <a:endParaRPr sz="1300"/>
          </a:p>
        </p:txBody>
      </p:sp>
      <p:sp>
        <p:nvSpPr>
          <p:cNvPr id="356" name="Google Shape;356;g3f937be6f6d_0_448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g3f937be6f6d_0_448:notes"/>
          <p:cNvSpPr txBox="1"/>
          <p:nvPr>
            <p:ph idx="1" type="body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937be6f6d_0_464:notes"/>
          <p:cNvSpPr txBox="1"/>
          <p:nvPr>
            <p:ph idx="1" type="body"/>
          </p:nvPr>
        </p:nvSpPr>
        <p:spPr>
          <a:xfrm>
            <a:off x="686098" y="4343703"/>
            <a:ext cx="54858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375" name="Google Shape;375;g3f937be6f6d_0_464:notes"/>
          <p:cNvSpPr/>
          <p:nvPr>
            <p:ph idx="2" type="sldImg"/>
          </p:nvPr>
        </p:nvSpPr>
        <p:spPr>
          <a:xfrm>
            <a:off x="428595" y="686405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9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7c0cb4dbb_1_3"/>
          <p:cNvSpPr txBox="1"/>
          <p:nvPr>
            <p:ph type="ctrTitle"/>
          </p:nvPr>
        </p:nvSpPr>
        <p:spPr>
          <a:xfrm>
            <a:off x="685800" y="2130425"/>
            <a:ext cx="7772700" cy="14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450" spcFirstLastPara="1" rIns="91450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9pPr>
          </a:lstStyle>
          <a:p/>
        </p:txBody>
      </p:sp>
      <p:sp>
        <p:nvSpPr>
          <p:cNvPr id="9" name="Google Shape;9;g3f7c0cb4dbb_1_3"/>
          <p:cNvSpPr txBox="1"/>
          <p:nvPr>
            <p:ph idx="1" type="subTitle"/>
          </p:nvPr>
        </p:nvSpPr>
        <p:spPr>
          <a:xfrm>
            <a:off x="1371600" y="3886200"/>
            <a:ext cx="64008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50" spcFirstLastPara="1" rIns="91450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2100"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100"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100"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100"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100"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100"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100"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100"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" name="Google Shape;10;g3f7c0cb4dbb_1_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450" spcFirstLastPara="1" rIns="91450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9pPr>
          </a:lstStyle>
          <a:p/>
        </p:txBody>
      </p:sp>
      <p:sp>
        <p:nvSpPr>
          <p:cNvPr id="11" name="Google Shape;11;g3f7c0cb4dbb_1_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450" spcFirstLastPara="1" rIns="91450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9pPr>
          </a:lstStyle>
          <a:p/>
        </p:txBody>
      </p:sp>
      <p:sp>
        <p:nvSpPr>
          <p:cNvPr id="12" name="Google Shape;12;g3f7c0cb4dbb_1_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450" spcFirstLastPara="1" rIns="91450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7c0cb4dbb_1_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450" spcFirstLastPara="1" rIns="91450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9pPr>
          </a:lstStyle>
          <a:p/>
        </p:txBody>
      </p:sp>
      <p:sp>
        <p:nvSpPr>
          <p:cNvPr id="15" name="Google Shape;15;g3f7c0cb4dbb_1_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50" spcFirstLastPara="1" rIns="91450" wrap="square" tIns="456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00"/>
            </a:lvl3pPr>
            <a:lvl4pPr indent="-3429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100"/>
            </a:lvl4pPr>
            <a:lvl5pPr indent="-3429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100"/>
            </a:lvl5pPr>
            <a:lvl6pPr indent="-3429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00"/>
            </a:lvl6pPr>
            <a:lvl7pPr indent="-3429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00"/>
            </a:lvl7pPr>
            <a:lvl8pPr indent="-3429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00"/>
            </a:lvl8pPr>
            <a:lvl9pPr indent="-3429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00"/>
            </a:lvl9pPr>
          </a:lstStyle>
          <a:p/>
        </p:txBody>
      </p:sp>
      <p:sp>
        <p:nvSpPr>
          <p:cNvPr id="16" name="Google Shape;16;g3f7c0cb4dbb_1_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450" spcFirstLastPara="1" rIns="91450" wrap="square" tIns="456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9pPr>
          </a:lstStyle>
          <a:p/>
        </p:txBody>
      </p:sp>
      <p:sp>
        <p:nvSpPr>
          <p:cNvPr id="17" name="Google Shape;17;g3f7c0cb4dbb_1_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450" spcFirstLastPara="1" rIns="91450" wrap="square" tIns="456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9pPr>
          </a:lstStyle>
          <a:p/>
        </p:txBody>
      </p:sp>
      <p:sp>
        <p:nvSpPr>
          <p:cNvPr id="18" name="Google Shape;18;g3f7c0cb4dbb_1_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91450" spcFirstLastPara="1" rIns="91450" wrap="square" tIns="456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7c0cb4dbb_1_15"/>
          <p:cNvSpPr txBox="1"/>
          <p:nvPr>
            <p:ph idx="10" type="dt"/>
          </p:nvPr>
        </p:nvSpPr>
        <p:spPr>
          <a:xfrm>
            <a:off x="1257312" y="9534525"/>
            <a:ext cx="4115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g3f7c0cb4dbb_1_15"/>
          <p:cNvSpPr txBox="1"/>
          <p:nvPr>
            <p:ph idx="11" type="ftr"/>
          </p:nvPr>
        </p:nvSpPr>
        <p:spPr>
          <a:xfrm>
            <a:off x="6057963" y="9534525"/>
            <a:ext cx="61725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" name="Google Shape;22;g3f7c0cb4dbb_1_15"/>
          <p:cNvSpPr txBox="1"/>
          <p:nvPr>
            <p:ph idx="12" type="sldNum"/>
          </p:nvPr>
        </p:nvSpPr>
        <p:spPr>
          <a:xfrm>
            <a:off x="12916033" y="9534525"/>
            <a:ext cx="4115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7c0cb4dbb_1_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f7c0cb4dbb_1_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f7c0cb4dbb_1_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27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10" Type="http://schemas.openxmlformats.org/officeDocument/2006/relationships/image" Target="../media/image22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2.png"/><Relationship Id="rId6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2.png"/><Relationship Id="rId6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Relationship Id="rId4" Type="http://schemas.openxmlformats.org/officeDocument/2006/relationships/image" Target="../media/image2.png"/><Relationship Id="rId5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Relationship Id="rId11" Type="http://schemas.openxmlformats.org/officeDocument/2006/relationships/image" Target="../media/image42.png"/><Relationship Id="rId10" Type="http://schemas.openxmlformats.org/officeDocument/2006/relationships/image" Target="../media/image40.png"/><Relationship Id="rId12" Type="http://schemas.openxmlformats.org/officeDocument/2006/relationships/image" Target="../media/image44.png"/><Relationship Id="rId9" Type="http://schemas.openxmlformats.org/officeDocument/2006/relationships/image" Target="../media/image38.png"/><Relationship Id="rId5" Type="http://schemas.openxmlformats.org/officeDocument/2006/relationships/image" Target="../media/image2.png"/><Relationship Id="rId6" Type="http://schemas.openxmlformats.org/officeDocument/2006/relationships/image" Target="../media/image49.png"/><Relationship Id="rId7" Type="http://schemas.openxmlformats.org/officeDocument/2006/relationships/image" Target="../media/image41.png"/><Relationship Id="rId8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43.png"/><Relationship Id="rId10" Type="http://schemas.openxmlformats.org/officeDocument/2006/relationships/image" Target="../media/image2.png"/><Relationship Id="rId9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6da79c88bb_0_8"/>
          <p:cNvSpPr txBox="1"/>
          <p:nvPr/>
        </p:nvSpPr>
        <p:spPr>
          <a:xfrm>
            <a:off x="1736100" y="4066058"/>
            <a:ext cx="14815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7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and </a:t>
            </a:r>
            <a:br>
              <a:rPr b="1" lang="en-US" sz="7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7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Feature Selection</a:t>
            </a:r>
            <a:endParaRPr b="1" sz="7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1" sz="700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g36da79c88bb_0_8"/>
          <p:cNvSpPr/>
          <p:nvPr/>
        </p:nvSpPr>
        <p:spPr>
          <a:xfrm rot="-8100000">
            <a:off x="12488683" y="-3296726"/>
            <a:ext cx="10644226" cy="865085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6da79c88bb_0_8"/>
          <p:cNvSpPr/>
          <p:nvPr/>
        </p:nvSpPr>
        <p:spPr>
          <a:xfrm rot="-8606732">
            <a:off x="-7159680" y="556981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g36da79c88bb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3775" y="9057100"/>
            <a:ext cx="8398076" cy="267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1"/>
          <p:cNvSpPr/>
          <p:nvPr/>
        </p:nvSpPr>
        <p:spPr>
          <a:xfrm rot="-8100000">
            <a:off x="-9317599" y="-442906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1"/>
          <p:cNvSpPr/>
          <p:nvPr/>
        </p:nvSpPr>
        <p:spPr>
          <a:xfrm rot="-8606732">
            <a:off x="13776539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1"/>
          <p:cNvSpPr txBox="1"/>
          <p:nvPr/>
        </p:nvSpPr>
        <p:spPr>
          <a:xfrm>
            <a:off x="3031298" y="2260006"/>
            <a:ext cx="13008900" cy="4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Regression – estimation of the relationship between variables </a:t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-515619" lvl="0" marL="53340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Linear regression</a:t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-515619" lvl="0" marL="53340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Assessing the assumptions</a:t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-515619" lvl="0" marL="53340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Char char="•"/>
            </a:pP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Non-linear regression</a:t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71"/>
          <p:cNvSpPr txBox="1"/>
          <p:nvPr/>
        </p:nvSpPr>
        <p:spPr>
          <a:xfrm>
            <a:off x="593111" y="7211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Learning Objectives</a:t>
            </a:r>
            <a:endParaRPr b="1" i="0" sz="5000" u="none" cap="none" strike="noStrike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2"/>
          <p:cNvSpPr/>
          <p:nvPr/>
        </p:nvSpPr>
        <p:spPr>
          <a:xfrm rot="-7063110">
            <a:off x="-4572759" y="-610815"/>
            <a:ext cx="11508636" cy="11508636"/>
          </a:xfrm>
          <a:custGeom>
            <a:rect b="b" l="l" r="r" t="t"/>
            <a:pathLst>
              <a:path extrusionOk="0"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72"/>
          <p:cNvSpPr/>
          <p:nvPr/>
        </p:nvSpPr>
        <p:spPr>
          <a:xfrm rot="-8100000">
            <a:off x="12294831" y="-38744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2"/>
          <p:cNvSpPr/>
          <p:nvPr/>
        </p:nvSpPr>
        <p:spPr>
          <a:xfrm rot="-8606732">
            <a:off x="12900238" y="9238811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72"/>
          <p:cNvSpPr/>
          <p:nvPr/>
        </p:nvSpPr>
        <p:spPr>
          <a:xfrm>
            <a:off x="1201954" y="2639598"/>
            <a:ext cx="15626700" cy="59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7600" lIns="135250" spcFirstLastPara="1" rIns="135250" wrap="square" tIns="67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42"/>
              <a:buFont typeface="Arial"/>
              <a:buNone/>
            </a:pPr>
            <a:r>
              <a:rPr b="1" i="0" lang="en-US" sz="4142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Regression</a:t>
            </a:r>
            <a:r>
              <a:rPr b="0" i="0" lang="en-US" sz="4142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– estimation of the relationship between variables </a:t>
            </a:r>
            <a:endParaRPr b="0" i="0" sz="4142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22700" lvl="0" marL="42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Courier"/>
              <a:buChar char="•"/>
            </a:pPr>
            <a:r>
              <a:rPr b="0" i="0" lang="en-US" sz="355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Linear regression</a:t>
            </a:r>
            <a:endParaRPr b="0" i="0" sz="355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22700" lvl="0" marL="42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Courier"/>
              <a:buChar char="•"/>
            </a:pPr>
            <a:r>
              <a:rPr b="0" i="0" lang="en-US" sz="355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Assessing the assumptions</a:t>
            </a:r>
            <a:endParaRPr b="0" i="0" sz="355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22700" lvl="0" marL="42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Courier"/>
              <a:buChar char="•"/>
            </a:pPr>
            <a:r>
              <a:rPr b="0" i="0" lang="en-US" sz="355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Non-linear regression</a:t>
            </a:r>
            <a:endParaRPr b="0" i="0" sz="355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9"/>
              <a:buFont typeface="Arial"/>
              <a:buNone/>
            </a:pPr>
            <a:r>
              <a:t/>
            </a:r>
            <a:endParaRPr b="0" i="0" sz="2959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42"/>
              <a:buFont typeface="Arial"/>
              <a:buNone/>
            </a:pPr>
            <a:r>
              <a:rPr b="1" i="0" lang="en-US" sz="4142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Correlation</a:t>
            </a:r>
            <a:r>
              <a:rPr b="0" i="0" lang="en-US" sz="4142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b="1" i="0" sz="4142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22700" lvl="0" marL="42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Courier"/>
              <a:buChar char="•"/>
            </a:pPr>
            <a:r>
              <a:rPr b="0" i="0" lang="en-US" sz="355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Correlation coefficient quantifies the association strength</a:t>
            </a:r>
            <a:endParaRPr b="0" i="0" sz="355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22700" lvl="0" marL="42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Courier"/>
              <a:buChar char="•"/>
            </a:pPr>
            <a:r>
              <a:rPr b="0" i="0" lang="en-US" sz="355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Sensitivity to the distribution</a:t>
            </a:r>
            <a:endParaRPr b="0" i="0" sz="355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9"/>
              <a:buFont typeface="Arial"/>
              <a:buNone/>
            </a:pPr>
            <a:r>
              <a:rPr b="0" i="0" lang="en-US" sz="2959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b="0" i="0" sz="2959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1" name="Google Shape;51;p72"/>
          <p:cNvSpPr/>
          <p:nvPr/>
        </p:nvSpPr>
        <p:spPr>
          <a:xfrm>
            <a:off x="-25" y="1006375"/>
            <a:ext cx="180309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600" lIns="135250" spcFirstLastPara="1" rIns="135250" wrap="square" tIns="67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9"/>
              <a:buFont typeface="Arial"/>
              <a:buNone/>
            </a:pPr>
            <a:r>
              <a:rPr b="0" i="0" lang="en-US" sz="6509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Learning Objectives</a:t>
            </a:r>
            <a:endParaRPr b="0" i="0" sz="6509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3"/>
          <p:cNvSpPr/>
          <p:nvPr/>
        </p:nvSpPr>
        <p:spPr>
          <a:xfrm rot="-1111536">
            <a:off x="10462708" y="-4691481"/>
            <a:ext cx="10436174" cy="8481763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3"/>
          <p:cNvSpPr/>
          <p:nvPr/>
        </p:nvSpPr>
        <p:spPr>
          <a:xfrm>
            <a:off x="0" y="8476966"/>
            <a:ext cx="9727319" cy="3106962"/>
          </a:xfrm>
          <a:custGeom>
            <a:rect b="b" l="l" r="r" t="t"/>
            <a:pathLst>
              <a:path extrusionOk="0"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3"/>
          <p:cNvSpPr/>
          <p:nvPr/>
        </p:nvSpPr>
        <p:spPr>
          <a:xfrm>
            <a:off x="3392540" y="2709744"/>
            <a:ext cx="43677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50" lIns="135550" spcFirstLastPara="1" rIns="135550" wrap="square" tIns="6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2"/>
              <a:buFont typeface="Arial"/>
              <a:buNone/>
            </a:pPr>
            <a:r>
              <a:rPr b="0" i="0" lang="en-US" sz="2372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Relationship</a:t>
            </a:r>
            <a:endParaRPr b="0" i="0" sz="207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2982" lvl="0" marL="26362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2"/>
              <a:buFont typeface="Arial"/>
              <a:buNone/>
            </a:pPr>
            <a:r>
              <a:t/>
            </a:r>
            <a:endParaRPr b="0" i="0" sz="2372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9" name="Google Shape;59;p73"/>
          <p:cNvSpPr/>
          <p:nvPr/>
        </p:nvSpPr>
        <p:spPr>
          <a:xfrm>
            <a:off x="12127546" y="2713937"/>
            <a:ext cx="52710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67750" lIns="135550" spcFirstLastPara="1" rIns="135550" wrap="square" tIns="6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2"/>
              <a:buFont typeface="Arial"/>
              <a:buNone/>
            </a:pPr>
            <a:r>
              <a:rPr b="0" i="0" lang="en-US" sz="2372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 Relationship</a:t>
            </a:r>
            <a:endParaRPr b="0" i="0" sz="207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2982" lvl="0" marL="26362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2"/>
              <a:buFont typeface="Arial"/>
              <a:buNone/>
            </a:pPr>
            <a:r>
              <a:t/>
            </a:r>
            <a:endParaRPr b="0" i="0" sz="2372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0" name="Google Shape;60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884" y="3256246"/>
            <a:ext cx="5215211" cy="5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9097" y="3256246"/>
            <a:ext cx="5215209" cy="500732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3"/>
          <p:cNvSpPr/>
          <p:nvPr/>
        </p:nvSpPr>
        <p:spPr>
          <a:xfrm>
            <a:off x="-25" y="1006375"/>
            <a:ext cx="180726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750" lIns="135550" spcFirstLastPara="1" rIns="135550" wrap="square" tIns="6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24"/>
              <a:buFont typeface="Arial"/>
              <a:buNone/>
            </a:pPr>
            <a:r>
              <a:rPr b="0" i="0" lang="en-US" sz="6524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Relationships</a:t>
            </a:r>
            <a:endParaRPr b="0" i="0" sz="6524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4"/>
          <p:cNvSpPr/>
          <p:nvPr/>
        </p:nvSpPr>
        <p:spPr>
          <a:xfrm rot="-2385946">
            <a:off x="-5686274" y="-11196460"/>
            <a:ext cx="17617704" cy="17617704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74"/>
          <p:cNvSpPr/>
          <p:nvPr/>
        </p:nvSpPr>
        <p:spPr>
          <a:xfrm flipH="1" rot="3987423">
            <a:off x="12599456" y="7261552"/>
            <a:ext cx="8063091" cy="6553094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74"/>
          <p:cNvSpPr/>
          <p:nvPr/>
        </p:nvSpPr>
        <p:spPr>
          <a:xfrm>
            <a:off x="2726987" y="3401785"/>
            <a:ext cx="43935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150" lIns="136350" spcFirstLastPara="1" rIns="136350" wrap="square" tIns="68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6"/>
              <a:buFont typeface="Arial"/>
              <a:buNone/>
            </a:pPr>
            <a:r>
              <a:rPr b="0" i="0" lang="en-US" sz="2386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 Relationships</a:t>
            </a:r>
            <a:endParaRPr b="0" i="0" sz="20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3652" lvl="0" marL="265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6"/>
              <a:buFont typeface="Arial"/>
              <a:buNone/>
            </a:pPr>
            <a:r>
              <a:t/>
            </a:r>
            <a:endParaRPr b="0" i="0" sz="2386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0" name="Google Shape;70;p74"/>
          <p:cNvSpPr/>
          <p:nvPr/>
        </p:nvSpPr>
        <p:spPr>
          <a:xfrm>
            <a:off x="11362404" y="3401785"/>
            <a:ext cx="53022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150" lIns="136350" spcFirstLastPara="1" rIns="136350" wrap="square" tIns="68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6"/>
              <a:buFont typeface="Arial"/>
              <a:buNone/>
            </a:pPr>
            <a:r>
              <a:rPr b="0" i="0" lang="en-US" sz="2386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Non-Linear Relationship</a:t>
            </a:r>
            <a:endParaRPr b="0" i="0" sz="208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3652" lvl="0" marL="2651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6"/>
              <a:buFont typeface="Arial"/>
              <a:buNone/>
            </a:pPr>
            <a:r>
              <a:t/>
            </a:r>
            <a:endParaRPr b="0" i="0" sz="2386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1" name="Google Shape;71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004" y="3947316"/>
            <a:ext cx="5246203" cy="5037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98917" y="3947316"/>
            <a:ext cx="5246203" cy="503708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4"/>
          <p:cNvSpPr/>
          <p:nvPr/>
        </p:nvSpPr>
        <p:spPr>
          <a:xfrm>
            <a:off x="-25" y="1006375"/>
            <a:ext cx="181800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150" lIns="136350" spcFirstLastPara="1" rIns="136350" wrap="square" tIns="68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63"/>
              <a:buFont typeface="Arial"/>
              <a:buNone/>
            </a:pPr>
            <a:r>
              <a:rPr b="0" i="0" lang="en-US" sz="6563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Relationships</a:t>
            </a:r>
            <a:endParaRPr b="0" i="0" sz="6563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5"/>
          <p:cNvSpPr/>
          <p:nvPr/>
        </p:nvSpPr>
        <p:spPr>
          <a:xfrm rot="-2505159">
            <a:off x="12361571" y="6168244"/>
            <a:ext cx="10629580" cy="8638950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463966" y="-2313975"/>
            <a:ext cx="10603018" cy="1028699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5"/>
          <p:cNvSpPr/>
          <p:nvPr/>
        </p:nvSpPr>
        <p:spPr>
          <a:xfrm>
            <a:off x="3392896" y="3439302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Linear, Strong</a:t>
            </a:r>
            <a:endParaRPr b="0" i="0" sz="21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28" lvl="0" marL="2667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" name="Google Shape;81;p75"/>
          <p:cNvSpPr/>
          <p:nvPr/>
        </p:nvSpPr>
        <p:spPr>
          <a:xfrm>
            <a:off x="12536859" y="3439302"/>
            <a:ext cx="5333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Linear, Weak</a:t>
            </a:r>
            <a:endParaRPr b="0" i="0" sz="21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28" lvl="0" marL="2667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2" name="Google Shape;82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8469" y="4125272"/>
            <a:ext cx="5277397" cy="5067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507" y="4125272"/>
            <a:ext cx="5277397" cy="50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5"/>
          <p:cNvSpPr/>
          <p:nvPr/>
        </p:nvSpPr>
        <p:spPr>
          <a:xfrm>
            <a:off x="-25" y="1006375"/>
            <a:ext cx="182880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2"/>
              <a:buFont typeface="Arial"/>
              <a:buNone/>
            </a:pPr>
            <a:r>
              <a:rPr b="0" i="0" lang="en-US" sz="6602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Relationships</a:t>
            </a:r>
            <a:endParaRPr b="0" i="0" sz="6602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6"/>
          <p:cNvSpPr/>
          <p:nvPr/>
        </p:nvSpPr>
        <p:spPr>
          <a:xfrm rot="-2385946">
            <a:off x="-5686274" y="-11196460"/>
            <a:ext cx="17617704" cy="17617704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76"/>
          <p:cNvSpPr/>
          <p:nvPr/>
        </p:nvSpPr>
        <p:spPr>
          <a:xfrm flipH="1" rot="3986662">
            <a:off x="12937473" y="7488361"/>
            <a:ext cx="8070370" cy="6559010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" name="Google Shape;91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774" y="4785662"/>
            <a:ext cx="4115809" cy="395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17" y="4785662"/>
            <a:ext cx="4115809" cy="395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7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70030" y="4785662"/>
            <a:ext cx="4115809" cy="39517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6"/>
          <p:cNvSpPr/>
          <p:nvPr/>
        </p:nvSpPr>
        <p:spPr>
          <a:xfrm>
            <a:off x="2285991" y="4442678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Linear, Strong</a:t>
            </a:r>
            <a:endParaRPr b="0" i="0" sz="21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28" lvl="0" marL="2667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" name="Google Shape;95;p76"/>
          <p:cNvSpPr/>
          <p:nvPr/>
        </p:nvSpPr>
        <p:spPr>
          <a:xfrm>
            <a:off x="7924767" y="4442678"/>
            <a:ext cx="5333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Linear, Weak</a:t>
            </a:r>
            <a:endParaRPr b="0" i="0" sz="21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28" lvl="0" marL="2667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6" name="Google Shape;96;p76"/>
          <p:cNvSpPr/>
          <p:nvPr/>
        </p:nvSpPr>
        <p:spPr>
          <a:xfrm>
            <a:off x="13868343" y="4442678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Non-Linear</a:t>
            </a:r>
            <a:endParaRPr b="0" i="0" sz="21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28" lvl="0" marL="2667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" name="Google Shape;97;p76"/>
          <p:cNvSpPr/>
          <p:nvPr/>
        </p:nvSpPr>
        <p:spPr>
          <a:xfrm>
            <a:off x="0" y="2036125"/>
            <a:ext cx="182880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2"/>
              <a:buFont typeface="Arial"/>
              <a:buNone/>
            </a:pPr>
            <a:r>
              <a:rPr b="0" i="0" lang="en-US" sz="6602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Linear Regression</a:t>
            </a:r>
            <a:endParaRPr b="0" i="0" sz="6602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7"/>
          <p:cNvSpPr/>
          <p:nvPr/>
        </p:nvSpPr>
        <p:spPr>
          <a:xfrm rot="-8606732">
            <a:off x="12081464" y="-4936139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450118" y="2161992"/>
            <a:ext cx="10603018" cy="1028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749" y="1759624"/>
            <a:ext cx="4115809" cy="3951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7"/>
          <p:cNvSpPr/>
          <p:nvPr/>
        </p:nvSpPr>
        <p:spPr>
          <a:xfrm>
            <a:off x="1790667" y="1302312"/>
            <a:ext cx="1448100" cy="1714800"/>
          </a:xfrm>
          <a:prstGeom prst="rect">
            <a:avLst/>
          </a:prstGeom>
          <a:solidFill>
            <a:srgbClr val="FFFFFF"/>
          </a:solidFill>
          <a:ln cap="flat" cmpd="sng" w="143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t/>
            </a:r>
            <a:endParaRPr b="0" i="0" sz="27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492" y="1759624"/>
            <a:ext cx="4115809" cy="395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70005" y="1759624"/>
            <a:ext cx="4115809" cy="3951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7"/>
          <p:cNvSpPr/>
          <p:nvPr/>
        </p:nvSpPr>
        <p:spPr>
          <a:xfrm>
            <a:off x="2285966" y="1416640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Linear, Strong</a:t>
            </a:r>
            <a:endParaRPr b="0" i="0" sz="21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28" lvl="0" marL="2667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9" name="Google Shape;109;p77"/>
          <p:cNvSpPr/>
          <p:nvPr/>
        </p:nvSpPr>
        <p:spPr>
          <a:xfrm>
            <a:off x="7924742" y="1416640"/>
            <a:ext cx="5333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Linear, Weak</a:t>
            </a:r>
            <a:endParaRPr b="0" i="0" sz="21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28" lvl="0" marL="2667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" name="Google Shape;110;p77"/>
          <p:cNvSpPr/>
          <p:nvPr/>
        </p:nvSpPr>
        <p:spPr>
          <a:xfrm>
            <a:off x="13868318" y="1416640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Non-Linear</a:t>
            </a:r>
            <a:endParaRPr b="0" i="0" sz="210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28" lvl="0" marL="2667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t/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1" name="Google Shape;111;p7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70005" y="6168683"/>
            <a:ext cx="4115809" cy="395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7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6803" y="6104090"/>
            <a:ext cx="4115809" cy="395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7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98404" y="6097207"/>
            <a:ext cx="4115809" cy="3951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7"/>
          <p:cNvSpPr/>
          <p:nvPr/>
        </p:nvSpPr>
        <p:spPr>
          <a:xfrm rot="-5400000">
            <a:off x="-1002508" y="6851613"/>
            <a:ext cx="331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Residuals</a:t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5" name="Google Shape;115;p77"/>
          <p:cNvSpPr/>
          <p:nvPr/>
        </p:nvSpPr>
        <p:spPr>
          <a:xfrm rot="-5400000">
            <a:off x="4709192" y="6851613"/>
            <a:ext cx="331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Residuals</a:t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6" name="Google Shape;116;p77"/>
          <p:cNvSpPr/>
          <p:nvPr/>
        </p:nvSpPr>
        <p:spPr>
          <a:xfrm rot="-5400000">
            <a:off x="10500368" y="6851613"/>
            <a:ext cx="3315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1"/>
              <a:buFont typeface="Arial"/>
              <a:buNone/>
            </a:pPr>
            <a:r>
              <a:rPr b="0" i="0" lang="en-US" sz="2401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Residuals</a:t>
            </a:r>
            <a:endParaRPr b="0" i="0" sz="2401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7" name="Google Shape;117;p77"/>
          <p:cNvSpPr/>
          <p:nvPr/>
        </p:nvSpPr>
        <p:spPr>
          <a:xfrm>
            <a:off x="-25" y="337950"/>
            <a:ext cx="182880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75" spcFirstLastPara="1" rIns="1371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2"/>
              <a:buFont typeface="Arial"/>
              <a:buNone/>
            </a:pPr>
            <a:r>
              <a:rPr b="0" i="0" lang="en-US" sz="6602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Linear Regression - Residuals</a:t>
            </a:r>
            <a:endParaRPr b="0" i="0" sz="6602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937be6f6d_0_260"/>
          <p:cNvSpPr/>
          <p:nvPr/>
        </p:nvSpPr>
        <p:spPr>
          <a:xfrm flipH="1" rot="3984778">
            <a:off x="13262107" y="6810972"/>
            <a:ext cx="7808355" cy="8275681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3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g3f937be6f6d_0_260"/>
          <p:cNvSpPr/>
          <p:nvPr/>
        </p:nvSpPr>
        <p:spPr>
          <a:xfrm rot="-2389435">
            <a:off x="-5922452" y="-11154511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g3f937be6f6d_0_260"/>
          <p:cNvSpPr txBox="1"/>
          <p:nvPr/>
        </p:nvSpPr>
        <p:spPr>
          <a:xfrm>
            <a:off x="7710241" y="6183005"/>
            <a:ext cx="3414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component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6" name="Google Shape;126;g3f937be6f6d_0_260"/>
          <p:cNvSpPr/>
          <p:nvPr/>
        </p:nvSpPr>
        <p:spPr>
          <a:xfrm>
            <a:off x="3962440" y="3200400"/>
            <a:ext cx="33435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Intercept 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7" name="Google Shape;127;g3f937be6f6d_0_260"/>
          <p:cNvSpPr/>
          <p:nvPr/>
        </p:nvSpPr>
        <p:spPr>
          <a:xfrm>
            <a:off x="7010472" y="2857500"/>
            <a:ext cx="39624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Slope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8" name="Google Shape;128;g3f937be6f6d_0_260"/>
          <p:cNvSpPr/>
          <p:nvPr/>
        </p:nvSpPr>
        <p:spPr>
          <a:xfrm>
            <a:off x="14487672" y="4472352"/>
            <a:ext cx="30384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Random Error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9" name="Google Shape;129;g3f937be6f6d_0_260"/>
          <p:cNvSpPr/>
          <p:nvPr/>
        </p:nvSpPr>
        <p:spPr>
          <a:xfrm>
            <a:off x="609606" y="4472352"/>
            <a:ext cx="36765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Dependent Variable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30" name="Google Shape;130;g3f937be6f6d_0_260"/>
          <p:cNvCxnSpPr/>
          <p:nvPr/>
        </p:nvCxnSpPr>
        <p:spPr>
          <a:xfrm>
            <a:off x="5781735" y="3886200"/>
            <a:ext cx="1828800" cy="45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1" name="Google Shape;131;g3f937be6f6d_0_260"/>
          <p:cNvCxnSpPr/>
          <p:nvPr/>
        </p:nvCxnSpPr>
        <p:spPr>
          <a:xfrm>
            <a:off x="3952916" y="5043852"/>
            <a:ext cx="76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g3f937be6f6d_0_260"/>
          <p:cNvCxnSpPr/>
          <p:nvPr/>
        </p:nvCxnSpPr>
        <p:spPr>
          <a:xfrm flipH="1">
            <a:off x="10752558" y="3771900"/>
            <a:ext cx="762000" cy="57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g3f937be6f6d_0_260"/>
          <p:cNvCxnSpPr/>
          <p:nvPr/>
        </p:nvCxnSpPr>
        <p:spPr>
          <a:xfrm rot="10301998">
            <a:off x="13617815" y="4980178"/>
            <a:ext cx="858290" cy="1276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g3f937be6f6d_0_260"/>
          <p:cNvSpPr/>
          <p:nvPr/>
        </p:nvSpPr>
        <p:spPr>
          <a:xfrm>
            <a:off x="10904949" y="2857500"/>
            <a:ext cx="43350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 Variable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937be6f6d_0_260"/>
          <p:cNvSpPr/>
          <p:nvPr/>
        </p:nvSpPr>
        <p:spPr>
          <a:xfrm flipH="1" rot="5400000">
            <a:off x="9182215" y="3973205"/>
            <a:ext cx="228600" cy="3962400"/>
          </a:xfrm>
          <a:prstGeom prst="leftBrace">
            <a:avLst>
              <a:gd fmla="val 70833" name="adj1"/>
              <a:gd fmla="val 50000" name="adj2"/>
            </a:avLst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g3f937be6f6d_0_260"/>
          <p:cNvCxnSpPr/>
          <p:nvPr/>
        </p:nvCxnSpPr>
        <p:spPr>
          <a:xfrm rot="-498316">
            <a:off x="9097026" y="3510481"/>
            <a:ext cx="305302" cy="85286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g3f937be6f6d_0_260"/>
          <p:cNvSpPr/>
          <p:nvPr/>
        </p:nvSpPr>
        <p:spPr>
          <a:xfrm flipH="1" rot="5400000">
            <a:off x="12611236" y="5421005"/>
            <a:ext cx="228600" cy="1066800"/>
          </a:xfrm>
          <a:prstGeom prst="leftBrace">
            <a:avLst>
              <a:gd fmla="val 29167" name="adj1"/>
              <a:gd fmla="val 50000" name="adj2"/>
            </a:avLst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937be6f6d_0_260"/>
          <p:cNvSpPr txBox="1"/>
          <p:nvPr/>
        </p:nvSpPr>
        <p:spPr>
          <a:xfrm>
            <a:off x="11514557" y="6183005"/>
            <a:ext cx="4335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Random Error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component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f937be6f6d_0_2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51" y="4457700"/>
            <a:ext cx="6204242" cy="1257301"/>
          </a:xfrm>
          <a:prstGeom prst="rect">
            <a:avLst/>
          </a:prstGeom>
          <a:solidFill>
            <a:srgbClr val="FF9900"/>
          </a:solidFill>
          <a:ln cap="flat" cmpd="sng" w="143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40" name="Google Shape;140;g3f937be6f6d_0_260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Model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37be6f6d_0_281"/>
          <p:cNvSpPr/>
          <p:nvPr/>
        </p:nvSpPr>
        <p:spPr>
          <a:xfrm rot="-8100000">
            <a:off x="-8989127" y="-852247"/>
            <a:ext cx="19615090" cy="19615090"/>
          </a:xfrm>
          <a:custGeom>
            <a:rect b="b" l="l" r="r" t="t"/>
            <a:pathLst>
              <a:path extrusionOk="0" h="19604188" w="19604188">
                <a:moveTo>
                  <a:pt x="0" y="0"/>
                </a:moveTo>
                <a:lnTo>
                  <a:pt x="19604188" y="0"/>
                </a:lnTo>
                <a:lnTo>
                  <a:pt x="19604188" y="19604188"/>
                </a:lnTo>
                <a:lnTo>
                  <a:pt x="0" y="19604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g3f937be6f6d_0_281"/>
          <p:cNvSpPr/>
          <p:nvPr/>
        </p:nvSpPr>
        <p:spPr>
          <a:xfrm flipH="1" rot="-9302098">
            <a:off x="11985992" y="-3433822"/>
            <a:ext cx="8104652" cy="6586871"/>
          </a:xfrm>
          <a:custGeom>
            <a:rect b="b" l="l" r="r" t="t"/>
            <a:pathLst>
              <a:path extrusionOk="0" h="6580089" w="8096307">
                <a:moveTo>
                  <a:pt x="8096307" y="0"/>
                </a:moveTo>
                <a:lnTo>
                  <a:pt x="0" y="0"/>
                </a:lnTo>
                <a:lnTo>
                  <a:pt x="0" y="6580090"/>
                </a:lnTo>
                <a:lnTo>
                  <a:pt x="8096307" y="6580090"/>
                </a:lnTo>
                <a:lnTo>
                  <a:pt x="8096307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f937be6f6d_0_281"/>
          <p:cNvSpPr/>
          <p:nvPr/>
        </p:nvSpPr>
        <p:spPr>
          <a:xfrm>
            <a:off x="1790718" y="914400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937be6f6d_0_281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Assumptions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50" name="Google Shape;150;g3f937be6f6d_0_281"/>
          <p:cNvSpPr txBox="1"/>
          <p:nvPr/>
        </p:nvSpPr>
        <p:spPr>
          <a:xfrm>
            <a:off x="1524022" y="4092375"/>
            <a:ext cx="161547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6096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urier"/>
              <a:buChar char="●"/>
            </a:pP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The relationship between the variables is linear.</a:t>
            </a:r>
            <a:endParaRPr b="0" i="0" sz="42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937be6f6d_0_288"/>
          <p:cNvSpPr/>
          <p:nvPr/>
        </p:nvSpPr>
        <p:spPr>
          <a:xfrm rot="-1108649">
            <a:off x="11991910" y="-5590059"/>
            <a:ext cx="11121450" cy="10514960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f937be6f6d_0_288"/>
          <p:cNvSpPr/>
          <p:nvPr/>
        </p:nvSpPr>
        <p:spPr>
          <a:xfrm>
            <a:off x="0" y="8476966"/>
            <a:ext cx="9727319" cy="3106962"/>
          </a:xfrm>
          <a:custGeom>
            <a:rect b="b" l="l" r="r" t="t"/>
            <a:pathLst>
              <a:path extrusionOk="0"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3f937be6f6d_0_288"/>
          <p:cNvSpPr/>
          <p:nvPr/>
        </p:nvSpPr>
        <p:spPr>
          <a:xfrm>
            <a:off x="1790718" y="914400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937be6f6d_0_288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Assumptions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0" name="Google Shape;160;g3f937be6f6d_0_288"/>
          <p:cNvSpPr txBox="1"/>
          <p:nvPr/>
        </p:nvSpPr>
        <p:spPr>
          <a:xfrm>
            <a:off x="1524022" y="4092375"/>
            <a:ext cx="161547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6096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urier"/>
              <a:buChar char="●"/>
            </a:pP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The relationship between the variables is linear.</a:t>
            </a:r>
            <a:endParaRPr b="0" i="0" sz="42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6096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urier"/>
              <a:buChar char="●"/>
            </a:pP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Errors are independent, normally distributed with mean zero and constant variance.</a:t>
            </a:r>
            <a:endParaRPr b="0" i="0" sz="42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f937be6f6d_0_2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450750" y="-1356050"/>
            <a:ext cx="15183627" cy="1473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f937be6f6d_0_295"/>
          <p:cNvSpPr/>
          <p:nvPr/>
        </p:nvSpPr>
        <p:spPr>
          <a:xfrm rot="-8606732">
            <a:off x="14117984" y="493418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g3f937be6f6d_0_2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9686" y="1728746"/>
            <a:ext cx="4114799" cy="395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f937be6f6d_0_2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2647" y="1728746"/>
            <a:ext cx="4114799" cy="395077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f937be6f6d_0_295"/>
          <p:cNvSpPr/>
          <p:nvPr/>
        </p:nvSpPr>
        <p:spPr>
          <a:xfrm>
            <a:off x="5453788" y="1385846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g3f937be6f6d_0_295"/>
          <p:cNvSpPr/>
          <p:nvPr/>
        </p:nvSpPr>
        <p:spPr>
          <a:xfrm>
            <a:off x="12890985" y="1385846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Non-Linear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2" name="Google Shape;172;g3f937be6f6d_0_2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92647" y="5957846"/>
            <a:ext cx="4114799" cy="395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f937be6f6d_0_29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84997" y="5893268"/>
            <a:ext cx="4114799" cy="395077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f937be6f6d_0_295"/>
          <p:cNvSpPr/>
          <p:nvPr/>
        </p:nvSpPr>
        <p:spPr>
          <a:xfrm rot="-5400000">
            <a:off x="1476653" y="6541125"/>
            <a:ext cx="331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Residuals</a:t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5" name="Google Shape;175;g3f937be6f6d_0_295"/>
          <p:cNvSpPr/>
          <p:nvPr/>
        </p:nvSpPr>
        <p:spPr>
          <a:xfrm rot="-5400000">
            <a:off x="9469044" y="6541125"/>
            <a:ext cx="331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Residuals</a:t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6" name="Google Shape;176;g3f937be6f6d_0_295"/>
          <p:cNvSpPr/>
          <p:nvPr/>
        </p:nvSpPr>
        <p:spPr>
          <a:xfrm>
            <a:off x="-38" y="4808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Assumptions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937be6f6d_0_308"/>
          <p:cNvSpPr/>
          <p:nvPr/>
        </p:nvSpPr>
        <p:spPr>
          <a:xfrm rot="-8606732">
            <a:off x="-6669051" y="5265213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f937be6f6d_0_3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8904" y="-7589554"/>
            <a:ext cx="14815797" cy="14374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f937be6f6d_0_3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0548" y="6286500"/>
            <a:ext cx="4114799" cy="395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f937be6f6d_0_3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60655" y="1992821"/>
            <a:ext cx="4114799" cy="395077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f937be6f6d_0_308"/>
          <p:cNvSpPr/>
          <p:nvPr/>
        </p:nvSpPr>
        <p:spPr>
          <a:xfrm>
            <a:off x="4457946" y="1649921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Constant Variance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7" name="Google Shape;187;g3f937be6f6d_0_308"/>
          <p:cNvSpPr/>
          <p:nvPr/>
        </p:nvSpPr>
        <p:spPr>
          <a:xfrm>
            <a:off x="12230426" y="1649921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Variable Variance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8" name="Google Shape;188;g3f937be6f6d_0_30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55966" y="6157343"/>
            <a:ext cx="4114799" cy="395077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f937be6f6d_0_308"/>
          <p:cNvSpPr/>
          <p:nvPr/>
        </p:nvSpPr>
        <p:spPr>
          <a:xfrm rot="-5400000">
            <a:off x="1547621" y="6805200"/>
            <a:ext cx="331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Residuals</a:t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0" name="Google Shape;190;g3f937be6f6d_0_308"/>
          <p:cNvSpPr/>
          <p:nvPr/>
        </p:nvSpPr>
        <p:spPr>
          <a:xfrm rot="-5400000">
            <a:off x="9540012" y="6805200"/>
            <a:ext cx="331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Residuals</a:t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1" name="Google Shape;191;g3f937be6f6d_0_30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30548" y="2034713"/>
            <a:ext cx="4114799" cy="395077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f937be6f6d_0_308"/>
          <p:cNvSpPr/>
          <p:nvPr/>
        </p:nvSpPr>
        <p:spPr>
          <a:xfrm>
            <a:off x="-38" y="4808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Assumptions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937be6f6d_0_321"/>
          <p:cNvSpPr/>
          <p:nvPr/>
        </p:nvSpPr>
        <p:spPr>
          <a:xfrm>
            <a:off x="1790718" y="914400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f937be6f6d_0_321"/>
          <p:cNvSpPr txBox="1"/>
          <p:nvPr/>
        </p:nvSpPr>
        <p:spPr>
          <a:xfrm>
            <a:off x="7710241" y="6183005"/>
            <a:ext cx="3414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component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0" name="Google Shape;200;g3f937be6f6d_0_321"/>
          <p:cNvSpPr/>
          <p:nvPr/>
        </p:nvSpPr>
        <p:spPr>
          <a:xfrm>
            <a:off x="3962440" y="3200400"/>
            <a:ext cx="33435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Intercept 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" name="Google Shape;201;g3f937be6f6d_0_321"/>
          <p:cNvSpPr/>
          <p:nvPr/>
        </p:nvSpPr>
        <p:spPr>
          <a:xfrm>
            <a:off x="7010472" y="2857500"/>
            <a:ext cx="39624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Slope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2" name="Google Shape;202;g3f937be6f6d_0_321"/>
          <p:cNvSpPr/>
          <p:nvPr/>
        </p:nvSpPr>
        <p:spPr>
          <a:xfrm>
            <a:off x="14487672" y="4472352"/>
            <a:ext cx="30384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Random Error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3" name="Google Shape;203;g3f937be6f6d_0_321"/>
          <p:cNvSpPr/>
          <p:nvPr/>
        </p:nvSpPr>
        <p:spPr>
          <a:xfrm>
            <a:off x="609606" y="4472352"/>
            <a:ext cx="36765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Dependent Variable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04" name="Google Shape;204;g3f937be6f6d_0_321"/>
          <p:cNvCxnSpPr/>
          <p:nvPr/>
        </p:nvCxnSpPr>
        <p:spPr>
          <a:xfrm>
            <a:off x="5781735" y="3886200"/>
            <a:ext cx="1828800" cy="45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g3f937be6f6d_0_321"/>
          <p:cNvCxnSpPr/>
          <p:nvPr/>
        </p:nvCxnSpPr>
        <p:spPr>
          <a:xfrm>
            <a:off x="3952916" y="5043852"/>
            <a:ext cx="76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" name="Google Shape;206;g3f937be6f6d_0_321"/>
          <p:cNvCxnSpPr/>
          <p:nvPr/>
        </p:nvCxnSpPr>
        <p:spPr>
          <a:xfrm flipH="1">
            <a:off x="10752558" y="3771900"/>
            <a:ext cx="762000" cy="57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" name="Google Shape;207;g3f937be6f6d_0_321"/>
          <p:cNvCxnSpPr/>
          <p:nvPr/>
        </p:nvCxnSpPr>
        <p:spPr>
          <a:xfrm rot="10301998">
            <a:off x="13617815" y="4980178"/>
            <a:ext cx="858290" cy="1276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g3f937be6f6d_0_321"/>
          <p:cNvSpPr/>
          <p:nvPr/>
        </p:nvSpPr>
        <p:spPr>
          <a:xfrm rot="-8606732">
            <a:off x="-7589499" y="-892177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f937be6f6d_0_3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22206" y="-3856527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f937be6f6d_0_321"/>
          <p:cNvSpPr/>
          <p:nvPr/>
        </p:nvSpPr>
        <p:spPr>
          <a:xfrm>
            <a:off x="10904949" y="2857500"/>
            <a:ext cx="43350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 Variable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937be6f6d_0_321"/>
          <p:cNvSpPr/>
          <p:nvPr/>
        </p:nvSpPr>
        <p:spPr>
          <a:xfrm flipH="1" rot="5400000">
            <a:off x="9182215" y="3973205"/>
            <a:ext cx="228600" cy="3962400"/>
          </a:xfrm>
          <a:prstGeom prst="leftBrace">
            <a:avLst>
              <a:gd fmla="val 70833" name="adj1"/>
              <a:gd fmla="val 50000" name="adj2"/>
            </a:avLst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g3f937be6f6d_0_321"/>
          <p:cNvCxnSpPr/>
          <p:nvPr/>
        </p:nvCxnSpPr>
        <p:spPr>
          <a:xfrm rot="-498316">
            <a:off x="9097026" y="3510481"/>
            <a:ext cx="305302" cy="85286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g3f937be6f6d_0_321"/>
          <p:cNvSpPr/>
          <p:nvPr/>
        </p:nvSpPr>
        <p:spPr>
          <a:xfrm flipH="1" rot="5400000">
            <a:off x="12611236" y="5421005"/>
            <a:ext cx="228600" cy="1066800"/>
          </a:xfrm>
          <a:prstGeom prst="leftBrace">
            <a:avLst>
              <a:gd fmla="val 29167" name="adj1"/>
              <a:gd fmla="val 50000" name="adj2"/>
            </a:avLst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f937be6f6d_0_321"/>
          <p:cNvSpPr txBox="1"/>
          <p:nvPr/>
        </p:nvSpPr>
        <p:spPr>
          <a:xfrm>
            <a:off x="11514557" y="6183005"/>
            <a:ext cx="4335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Random Error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component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3f937be6f6d_0_3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51" y="4457700"/>
            <a:ext cx="6204242" cy="1257301"/>
          </a:xfrm>
          <a:prstGeom prst="rect">
            <a:avLst/>
          </a:prstGeom>
          <a:solidFill>
            <a:srgbClr val="FF9900"/>
          </a:solidFill>
          <a:ln cap="flat" cmpd="sng" w="143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16" name="Google Shape;216;g3f937be6f6d_0_321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Model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937be6f6d_0_342"/>
          <p:cNvSpPr/>
          <p:nvPr/>
        </p:nvSpPr>
        <p:spPr>
          <a:xfrm>
            <a:off x="1790718" y="914400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937be6f6d_0_342"/>
          <p:cNvSpPr/>
          <p:nvPr/>
        </p:nvSpPr>
        <p:spPr>
          <a:xfrm>
            <a:off x="5486456" y="3172554"/>
            <a:ext cx="33435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Estimated Intercept 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4" name="Google Shape;224;g3f937be6f6d_0_342"/>
          <p:cNvSpPr/>
          <p:nvPr/>
        </p:nvSpPr>
        <p:spPr>
          <a:xfrm>
            <a:off x="9601299" y="3215052"/>
            <a:ext cx="39624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Estimated Slope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5" name="Google Shape;225;g3f937be6f6d_0_342"/>
          <p:cNvSpPr/>
          <p:nvPr/>
        </p:nvSpPr>
        <p:spPr>
          <a:xfrm>
            <a:off x="1504965" y="5186363"/>
            <a:ext cx="36765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Estimated Value</a:t>
            </a:r>
            <a:endParaRPr b="0" i="0" sz="3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26" name="Google Shape;226;g3f937be6f6d_0_342"/>
          <p:cNvCxnSpPr/>
          <p:nvPr/>
        </p:nvCxnSpPr>
        <p:spPr>
          <a:xfrm>
            <a:off x="7315275" y="4382096"/>
            <a:ext cx="1219500" cy="80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" name="Google Shape;227;g3f937be6f6d_0_342"/>
          <p:cNvCxnSpPr/>
          <p:nvPr/>
        </p:nvCxnSpPr>
        <p:spPr>
          <a:xfrm>
            <a:off x="4724448" y="5886815"/>
            <a:ext cx="76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g3f937be6f6d_0_342"/>
          <p:cNvCxnSpPr/>
          <p:nvPr/>
        </p:nvCxnSpPr>
        <p:spPr>
          <a:xfrm rot="10800000">
            <a:off x="12801592" y="6100763"/>
            <a:ext cx="1238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29" name="Google Shape;229;g3f937be6f6d_0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03667" y="1808126"/>
            <a:ext cx="12075666" cy="1171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f937be6f6d_0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8981" y="-5402300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f937be6f6d_0_342"/>
          <p:cNvSpPr/>
          <p:nvPr/>
        </p:nvSpPr>
        <p:spPr>
          <a:xfrm>
            <a:off x="13411337" y="5315315"/>
            <a:ext cx="4335000" cy="12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 Variable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g3f937be6f6d_0_342"/>
          <p:cNvCxnSpPr/>
          <p:nvPr/>
        </p:nvCxnSpPr>
        <p:spPr>
          <a:xfrm flipH="1" rot="-496428">
            <a:off x="10638743" y="4445808"/>
            <a:ext cx="1031941" cy="66117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33" name="Google Shape;233;g3f937be6f6d_0_3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6659" y="5231607"/>
            <a:ext cx="5019674" cy="1397794"/>
          </a:xfrm>
          <a:prstGeom prst="rect">
            <a:avLst/>
          </a:prstGeom>
          <a:solidFill>
            <a:srgbClr val="FF9900"/>
          </a:solidFill>
          <a:ln cap="flat" cmpd="sng" w="143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34" name="Google Shape;234;g3f937be6f6d_0_342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- Estimating the line</a:t>
            </a:r>
            <a:endParaRPr b="0" i="0" sz="60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937be6f6d_0_357"/>
          <p:cNvSpPr/>
          <p:nvPr/>
        </p:nvSpPr>
        <p:spPr>
          <a:xfrm rot="-2389435">
            <a:off x="-5535145" y="-10479990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f937be6f6d_0_357"/>
          <p:cNvSpPr/>
          <p:nvPr/>
        </p:nvSpPr>
        <p:spPr>
          <a:xfrm flipH="1" rot="3986682">
            <a:off x="13223353" y="6436180"/>
            <a:ext cx="8927962" cy="8150917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f937be6f6d_0_357"/>
          <p:cNvSpPr/>
          <p:nvPr/>
        </p:nvSpPr>
        <p:spPr>
          <a:xfrm>
            <a:off x="874990" y="4532588"/>
            <a:ext cx="16916700" cy="2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Find slope and intercept given measurements X</a:t>
            </a:r>
            <a:r>
              <a:rPr b="0" baseline="-2500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,Y</a:t>
            </a:r>
            <a:r>
              <a:rPr b="0" baseline="-2500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i=1..N that minimizes the sum of the squares of the residuals. </a:t>
            </a:r>
            <a:endParaRPr b="0" i="0" sz="42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43" name="Google Shape;243;g3f937be6f6d_0_357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Least Squares Method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937be6f6d_0_364"/>
          <p:cNvSpPr/>
          <p:nvPr/>
        </p:nvSpPr>
        <p:spPr>
          <a:xfrm rot="-8606011">
            <a:off x="-8094941" y="1285963"/>
            <a:ext cx="12060077" cy="9663166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g3f937be6f6d_0_3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60081" y="-5271919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f937be6f6d_0_364"/>
          <p:cNvSpPr/>
          <p:nvPr/>
        </p:nvSpPr>
        <p:spPr>
          <a:xfrm>
            <a:off x="1790718" y="914400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f937be6f6d_0_364"/>
          <p:cNvSpPr/>
          <p:nvPr/>
        </p:nvSpPr>
        <p:spPr>
          <a:xfrm>
            <a:off x="874990" y="4532588"/>
            <a:ext cx="16916700" cy="2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Find slope and intercept given measurements X</a:t>
            </a:r>
            <a:r>
              <a:rPr b="0" baseline="-2500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,Y</a:t>
            </a:r>
            <a:r>
              <a:rPr b="0" baseline="-2500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i=1..N that minimizes the </a:t>
            </a:r>
            <a:r>
              <a:rPr b="1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sum of the squares of the residuals.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b="0" i="0" sz="42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3" name="Google Shape;253;g3f937be6f6d_0_364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Least Squares Method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254" name="Google Shape;254;g3f937be6f6d_0_3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26653" y="6626680"/>
            <a:ext cx="3486153" cy="1535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937be6f6d_0_372"/>
          <p:cNvSpPr/>
          <p:nvPr/>
        </p:nvSpPr>
        <p:spPr>
          <a:xfrm>
            <a:off x="1790718" y="914400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937be6f6d_0_372"/>
          <p:cNvSpPr/>
          <p:nvPr/>
        </p:nvSpPr>
        <p:spPr>
          <a:xfrm>
            <a:off x="874990" y="4532588"/>
            <a:ext cx="16916700" cy="2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Find slope and intercept given measurements X</a:t>
            </a:r>
            <a:r>
              <a:rPr b="0" baseline="-2500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,Y</a:t>
            </a:r>
            <a:r>
              <a:rPr b="0" baseline="-2500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i=1..N that </a:t>
            </a:r>
            <a:r>
              <a:rPr b="1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minimizes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the sum of the squares of the residuals. </a:t>
            </a:r>
            <a:endParaRPr b="0" i="0" sz="42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2" name="Google Shape;262;g3f937be6f6d_0_372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Least Squares Method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263" name="Google Shape;263;g3f937be6f6d_0_3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1866" y="7065995"/>
            <a:ext cx="2859880" cy="2443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f937be6f6d_0_3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726" y="6897900"/>
            <a:ext cx="2790826" cy="244316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f937be6f6d_0_372"/>
          <p:cNvSpPr/>
          <p:nvPr/>
        </p:nvSpPr>
        <p:spPr>
          <a:xfrm rot="-8606732">
            <a:off x="16390634" y="1759575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g3f937be6f6d_0_3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7555975" y="1347324"/>
            <a:ext cx="11335500" cy="1099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g3f937be6f6d_0_3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8981" y="-5402300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f937be6f6d_0_381"/>
          <p:cNvSpPr/>
          <p:nvPr/>
        </p:nvSpPr>
        <p:spPr>
          <a:xfrm>
            <a:off x="1790718" y="914400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937be6f6d_0_381"/>
          <p:cNvSpPr/>
          <p:nvPr/>
        </p:nvSpPr>
        <p:spPr>
          <a:xfrm>
            <a:off x="796140" y="3595332"/>
            <a:ext cx="169167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75" lIns="135725" spcFirstLastPara="1" rIns="135725" wrap="square" tIns="66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Find slope and intercept given measurements X</a:t>
            </a:r>
            <a:r>
              <a:rPr b="0" baseline="-2500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,Y</a:t>
            </a:r>
            <a:r>
              <a:rPr b="0" baseline="-2500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i=1..N that </a:t>
            </a:r>
            <a:r>
              <a:rPr b="1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minimizes the sum of the squares of the residuals</a:t>
            </a:r>
            <a:r>
              <a:rPr b="0" i="0" lang="en-US" sz="4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. </a:t>
            </a:r>
            <a:endParaRPr b="0" i="0" sz="42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275" name="Google Shape;275;g3f937be6f6d_0_3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769" y="6544769"/>
            <a:ext cx="10629901" cy="3143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f937be6f6d_0_3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58766" y="5999322"/>
            <a:ext cx="5584030" cy="4234046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pic>
      <p:sp>
        <p:nvSpPr>
          <p:cNvPr id="277" name="Google Shape;277;g3f937be6f6d_0_381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Least Squares Method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937be6f6d_0_390"/>
          <p:cNvSpPr/>
          <p:nvPr/>
        </p:nvSpPr>
        <p:spPr>
          <a:xfrm rot="-7063110">
            <a:off x="-8712484" y="1244060"/>
            <a:ext cx="11508636" cy="11508636"/>
          </a:xfrm>
          <a:custGeom>
            <a:rect b="b" l="l" r="r" t="t"/>
            <a:pathLst>
              <a:path extrusionOk="0"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937be6f6d_0_390"/>
          <p:cNvSpPr/>
          <p:nvPr/>
        </p:nvSpPr>
        <p:spPr>
          <a:xfrm rot="-8100000">
            <a:off x="12104331" y="-41030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937be6f6d_0_390"/>
          <p:cNvSpPr/>
          <p:nvPr/>
        </p:nvSpPr>
        <p:spPr>
          <a:xfrm rot="-8606732">
            <a:off x="12862137" y="936708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937be6f6d_0_390"/>
          <p:cNvSpPr/>
          <p:nvPr/>
        </p:nvSpPr>
        <p:spPr>
          <a:xfrm>
            <a:off x="2299451" y="3714100"/>
            <a:ext cx="13689300" cy="1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scipy.stats as stats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slope,intercept</a:t>
            </a: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,r_value,p_value,std_err = </a:t>
            </a: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stats.linregress(x,y)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g3f937be6f6d_0_390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in Python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937be6f6d_0_397"/>
          <p:cNvSpPr/>
          <p:nvPr/>
        </p:nvSpPr>
        <p:spPr>
          <a:xfrm rot="-8606732">
            <a:off x="12130616" y="-449116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g3f937be6f6d_0_3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325600" y="1659274"/>
            <a:ext cx="12223653" cy="1185932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f937be6f6d_0_397"/>
          <p:cNvSpPr/>
          <p:nvPr/>
        </p:nvSpPr>
        <p:spPr>
          <a:xfrm>
            <a:off x="1790718" y="1535625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g3f937be6f6d_0_3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8" y="1992825"/>
            <a:ext cx="4114799" cy="395077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f937be6f6d_0_397"/>
          <p:cNvSpPr/>
          <p:nvPr/>
        </p:nvSpPr>
        <p:spPr>
          <a:xfrm>
            <a:off x="2286024" y="1649925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Linear, Strong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98" name="Google Shape;298;g3f937be6f6d_0_3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839" y="6336225"/>
            <a:ext cx="4114799" cy="395077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f937be6f6d_0_397"/>
          <p:cNvSpPr/>
          <p:nvPr/>
        </p:nvSpPr>
        <p:spPr>
          <a:xfrm rot="-5400000">
            <a:off x="-1002029" y="7083525"/>
            <a:ext cx="331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Residuals</a:t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0" name="Google Shape;300;g3f937be6f6d_0_397"/>
          <p:cNvSpPr/>
          <p:nvPr/>
        </p:nvSpPr>
        <p:spPr>
          <a:xfrm>
            <a:off x="6307580" y="2254050"/>
            <a:ext cx="11879400" cy="80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x=np.linspace(-1,1,points)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y=x+0.1*np.random.normal(size=points)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slope,intercept</a:t>
            </a: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,r_value,p_value,std_err   = </a:t>
            </a: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stats.linregress(x,y)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y_line=slope*x+intercept</a:t>
            </a:r>
            <a:endParaRPr b="1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fig, (ax1) = plt.subplots(1,figsize=(4,4))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</a:t>
            </a: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scatter(x,y</a:t>
            </a: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,color='#4D0132',lw=0,s=60)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ax1.set_xlim([-1.5,1.5])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ax1.set_ylim([-1.5,1.5])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</a:t>
            </a: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plot(x,y_line</a:t>
            </a: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,color='red',lw=2)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fig.savefig('linear.png')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fig, (ax1) = plt.subplots(1,figsize=(4,4))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</a:t>
            </a: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scatter(x,y-y_line</a:t>
            </a: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color='#963725',lw=0,s=60)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ax1.set_xlim([-1.5,1.5])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ax1.set_ylim([-1.5,1.5])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fig.savefig('linear-residuals.png')</a:t>
            </a:r>
            <a:endParaRPr b="0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" name="Google Shape;301;g3f937be6f6d_0_397"/>
          <p:cNvSpPr/>
          <p:nvPr/>
        </p:nvSpPr>
        <p:spPr>
          <a:xfrm>
            <a:off x="118231" y="65351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Example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f937be6f6d_0_4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745914" y="1947231"/>
            <a:ext cx="10603016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f937be6f6d_0_408"/>
          <p:cNvSpPr/>
          <p:nvPr/>
        </p:nvSpPr>
        <p:spPr>
          <a:xfrm rot="-8606732">
            <a:off x="11582191" y="-4664337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937be6f6d_0_408"/>
          <p:cNvSpPr/>
          <p:nvPr/>
        </p:nvSpPr>
        <p:spPr>
          <a:xfrm>
            <a:off x="1712567" y="1542488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937be6f6d_0_408"/>
          <p:cNvSpPr/>
          <p:nvPr/>
        </p:nvSpPr>
        <p:spPr>
          <a:xfrm>
            <a:off x="6170312" y="1771088"/>
            <a:ext cx="11879400" cy="80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x=np.linspace(-1,1,points)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y=x+</a:t>
            </a:r>
            <a:r>
              <a:rPr b="1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0.4</a:t>
            </a: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*np.random.normal(size=points)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slope,intercept,r_value,p_value,std_err   = stats.linregress(x,y)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y_line=slope*x+intercept</a:t>
            </a:r>
            <a:endParaRPr b="0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fig, (ax1) = plt.subplots(1,figsize=(4,4))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ax1.scatter(x,y,color='#4D0132',lw=0,s=60)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ax1.set_xlim([-1.5,1.5])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ax1.set_ylim([-1.5,1.5])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ax1.plot(x,y_line,color='red',lw=2)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fig.savefig('linear-weak.png')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fig, (ax1) = plt.subplots(1,figsize=(4,4))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ax1.scatter(x,y-y_line, color='#963725',lw=0,s=60)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ax1.set_xlim([-1.5,1.5])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ax1.set_ylim([-1.5,1.5])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fig.savefig('linear-weak-residuals.png')</a:t>
            </a:r>
            <a:endParaRPr b="0" i="0" sz="27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11" name="Google Shape;311;g3f937be6f6d_0_4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377" y="1999688"/>
            <a:ext cx="4114799" cy="395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f937be6f6d_0_4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377" y="6336207"/>
            <a:ext cx="4114799" cy="395077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f937be6f6d_0_408"/>
          <p:cNvSpPr/>
          <p:nvPr/>
        </p:nvSpPr>
        <p:spPr>
          <a:xfrm>
            <a:off x="2207871" y="1656788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Linear, Weak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4" name="Google Shape;314;g3f937be6f6d_0_408"/>
          <p:cNvSpPr/>
          <p:nvPr/>
        </p:nvSpPr>
        <p:spPr>
          <a:xfrm rot="-5400000">
            <a:off x="-1080181" y="7090388"/>
            <a:ext cx="331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Residuals</a:t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5" name="Google Shape;315;g3f937be6f6d_0_408"/>
          <p:cNvSpPr/>
          <p:nvPr/>
        </p:nvSpPr>
        <p:spPr>
          <a:xfrm>
            <a:off x="118231" y="65351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Example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937be6f6d_0_419"/>
          <p:cNvSpPr/>
          <p:nvPr/>
        </p:nvSpPr>
        <p:spPr>
          <a:xfrm>
            <a:off x="1790718" y="914400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g3f937be6f6d_0_4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8827" y="1718645"/>
            <a:ext cx="4114799" cy="3950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f937be6f6d_0_4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66" y="5705856"/>
            <a:ext cx="4114799" cy="3950779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f937be6f6d_0_419"/>
          <p:cNvSpPr/>
          <p:nvPr/>
        </p:nvSpPr>
        <p:spPr>
          <a:xfrm rot="-8606732">
            <a:off x="12054416" y="-530511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3f937be6f6d_0_4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7969611">
            <a:off x="-10453595" y="-1968236"/>
            <a:ext cx="17025012" cy="1651758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f937be6f6d_0_419"/>
          <p:cNvSpPr/>
          <p:nvPr/>
        </p:nvSpPr>
        <p:spPr>
          <a:xfrm>
            <a:off x="11683567" y="3384059"/>
            <a:ext cx="4419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Outlier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7" name="Google Shape;327;g3f937be6f6d_0_419"/>
          <p:cNvSpPr/>
          <p:nvPr/>
        </p:nvSpPr>
        <p:spPr>
          <a:xfrm rot="2467860">
            <a:off x="10683318" y="3723254"/>
            <a:ext cx="323815" cy="1704362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f937be6f6d_0_419"/>
          <p:cNvSpPr/>
          <p:nvPr/>
        </p:nvSpPr>
        <p:spPr>
          <a:xfrm>
            <a:off x="118231" y="65351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Linear Regression Example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937be6f6d_0_429"/>
          <p:cNvSpPr/>
          <p:nvPr/>
        </p:nvSpPr>
        <p:spPr>
          <a:xfrm rot="-2083339">
            <a:off x="-12593680" y="-2243319"/>
            <a:ext cx="14355438" cy="14355438"/>
          </a:xfrm>
          <a:custGeom>
            <a:rect b="b" l="l" r="r" t="t"/>
            <a:pathLst>
              <a:path extrusionOk="0" h="14345355" w="14345355">
                <a:moveTo>
                  <a:pt x="0" y="0"/>
                </a:moveTo>
                <a:lnTo>
                  <a:pt x="14345355" y="0"/>
                </a:lnTo>
                <a:lnTo>
                  <a:pt x="14345355" y="14345355"/>
                </a:lnTo>
                <a:lnTo>
                  <a:pt x="0" y="1434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937be6f6d_0_429"/>
          <p:cNvSpPr/>
          <p:nvPr/>
        </p:nvSpPr>
        <p:spPr>
          <a:xfrm rot="-8606732">
            <a:off x="16703516" y="223787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f937be6f6d_0_429"/>
          <p:cNvSpPr/>
          <p:nvPr/>
        </p:nvSpPr>
        <p:spPr>
          <a:xfrm>
            <a:off x="1790718" y="914400"/>
            <a:ext cx="1448100" cy="17145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937be6f6d_0_429"/>
          <p:cNvSpPr txBox="1"/>
          <p:nvPr/>
        </p:nvSpPr>
        <p:spPr>
          <a:xfrm>
            <a:off x="9999351" y="2379933"/>
            <a:ext cx="637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Solution 1: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Transformation</a:t>
            </a:r>
            <a:endParaRPr b="0" i="0" sz="3000" u="none" cap="none" strike="noStrike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descr="D:\Google Drive\NYU\Teaching\2015 Fall Introduction to Biostatistics and Bioinformatics\slides\IBB2015_15_plots\ibb2015_7-exp-line.png" id="338" name="Google Shape;338;g3f937be6f6d_0_429"/>
          <p:cNvPicPr preferRelativeResize="0"/>
          <p:nvPr/>
        </p:nvPicPr>
        <p:blipFill rotWithShape="1">
          <a:blip r:embed="rId5">
            <a:alphaModFix/>
          </a:blip>
          <a:srcRect b="0" l="0" r="0" t="7927"/>
          <a:stretch/>
        </p:blipFill>
        <p:spPr>
          <a:xfrm>
            <a:off x="1790718" y="3314700"/>
            <a:ext cx="5486457" cy="38628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Google Drive\NYU\Teaching\2015 Fall Introduction to Biostatistics and Bioinformatics\slides\IBB2015_15_plots\ibb2015_7-log-exp-line.png" id="339" name="Google Shape;339;g3f937be6f6d_0_429"/>
          <p:cNvPicPr preferRelativeResize="0"/>
          <p:nvPr/>
        </p:nvPicPr>
        <p:blipFill rotWithShape="1">
          <a:blip r:embed="rId6">
            <a:alphaModFix/>
          </a:blip>
          <a:srcRect b="0" l="0" r="0" t="7783"/>
          <a:stretch/>
        </p:blipFill>
        <p:spPr>
          <a:xfrm>
            <a:off x="10151752" y="3048231"/>
            <a:ext cx="5486457" cy="386890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f937be6f6d_0_429"/>
          <p:cNvSpPr txBox="1"/>
          <p:nvPr/>
        </p:nvSpPr>
        <p:spPr>
          <a:xfrm>
            <a:off x="9694547" y="7823522"/>
            <a:ext cx="7855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Solution 2: </a:t>
            </a:r>
            <a:r>
              <a:rPr b="0" i="0" lang="en-US" sz="3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Non-linear Regression </a:t>
            </a:r>
            <a:endParaRPr b="0" i="0" sz="30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341" name="Google Shape;341;g3f937be6f6d_0_4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27060" y="8379696"/>
            <a:ext cx="5372099" cy="1133918"/>
          </a:xfrm>
          <a:prstGeom prst="rect">
            <a:avLst/>
          </a:prstGeom>
          <a:noFill/>
          <a:ln cap="flat" cmpd="sng" w="143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342" name="Google Shape;342;g3f937be6f6d_0_429"/>
          <p:cNvSpPr/>
          <p:nvPr/>
        </p:nvSpPr>
        <p:spPr>
          <a:xfrm>
            <a:off x="-38" y="1509563"/>
            <a:ext cx="182883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Regression - Non-linear data</a:t>
            </a:r>
            <a:endParaRPr b="0" i="0" sz="6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937be6f6d_0_440"/>
          <p:cNvSpPr txBox="1"/>
          <p:nvPr>
            <p:ph type="title"/>
          </p:nvPr>
        </p:nvSpPr>
        <p:spPr>
          <a:xfrm>
            <a:off x="1257462" y="1048613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 sz="6600">
                <a:latin typeface="Courier"/>
                <a:ea typeface="Courier"/>
                <a:cs typeface="Courier"/>
                <a:sym typeface="Courier"/>
              </a:rPr>
              <a:t>Regularization</a:t>
            </a:r>
            <a:endParaRPr sz="66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49" name="Google Shape;349;g3f937be6f6d_0_440"/>
          <p:cNvSpPr txBox="1"/>
          <p:nvPr>
            <p:ph idx="1" type="body"/>
          </p:nvPr>
        </p:nvSpPr>
        <p:spPr>
          <a:xfrm>
            <a:off x="1257312" y="3037163"/>
            <a:ext cx="15773400" cy="6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 lnSpcReduction="10000"/>
          </a:bodyPr>
          <a:lstStyle/>
          <a:p>
            <a:pPr indent="-571500" lvl="0" marL="520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urier"/>
              <a:buChar char="•"/>
            </a:pPr>
            <a:r>
              <a:rPr lang="en-US" sz="2100">
                <a:latin typeface="Courier"/>
                <a:ea typeface="Courier"/>
                <a:cs typeface="Courier"/>
                <a:sym typeface="Courier"/>
              </a:rPr>
              <a:t>Maximum-likelihood estimates are not always the best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571500" lvl="0" marL="5207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urier"/>
              <a:buChar char="•"/>
            </a:pPr>
            <a:r>
              <a:rPr lang="en-US" sz="2100">
                <a:latin typeface="Courier"/>
                <a:ea typeface="Courier"/>
                <a:cs typeface="Courier"/>
                <a:sym typeface="Courier"/>
              </a:rPr>
              <a:t>Alternative: we "regularize" the likelihood objective (also known as penalized likelihood, shrinkage, smoothing, etc.), by adding to it a penalty term: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304800" lvl="0" marL="5207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431800" lvl="1" marL="1117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 sz="2100">
                <a:latin typeface="Courier"/>
                <a:ea typeface="Courier"/>
                <a:cs typeface="Courier"/>
                <a:sym typeface="Courier"/>
              </a:rPr>
              <a:t>	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508000" lvl="1" marL="1117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urier"/>
              <a:buChar char="•"/>
            </a:pPr>
            <a:r>
              <a:rPr lang="en-US" sz="2100">
                <a:latin typeface="Courier"/>
                <a:ea typeface="Courier"/>
                <a:cs typeface="Courier"/>
                <a:sym typeface="Courier"/>
              </a:rPr>
              <a:t>	where ||θ|| might be the L1 or L2 norm.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241300" lvl="1" marL="1117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t/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571500" lvl="0" marL="5207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urier"/>
              <a:buChar char="•"/>
            </a:pPr>
            <a:r>
              <a:rPr lang="en-US" sz="2100">
                <a:latin typeface="Courier"/>
                <a:ea typeface="Courier"/>
                <a:cs typeface="Courier"/>
                <a:sym typeface="Courier"/>
              </a:rPr>
              <a:t>The choice of norm has an effect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508000" lvl="1" marL="1117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urier"/>
              <a:buChar char="•"/>
            </a:pPr>
            <a:r>
              <a:rPr lang="en-US" sz="2100">
                <a:latin typeface="Courier"/>
                <a:ea typeface="Courier"/>
                <a:cs typeface="Courier"/>
                <a:sym typeface="Courier"/>
              </a:rPr>
              <a:t>using the L2  norm pulls  directly towards the origin, 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508000" lvl="1" marL="1117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urier"/>
              <a:buChar char="•"/>
            </a:pPr>
            <a:r>
              <a:rPr lang="en-US" sz="2100">
                <a:latin typeface="Courier"/>
                <a:ea typeface="Courier"/>
                <a:cs typeface="Courier"/>
                <a:sym typeface="Courier"/>
              </a:rPr>
              <a:t>while using the L1 norm pulls towards the coordinate axes, i.e it tries to set some of the coordinates to 0. 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  <a:p>
            <a:pPr indent="-508000" lvl="1" marL="1117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ourier"/>
              <a:buChar char="•"/>
            </a:pPr>
            <a:r>
              <a:rPr lang="en-US" sz="2100">
                <a:latin typeface="Courier"/>
                <a:ea typeface="Courier"/>
                <a:cs typeface="Courier"/>
                <a:sym typeface="Courier"/>
              </a:rPr>
              <a:t>This second approach can be useful in a feature-selection setting.</a:t>
            </a:r>
            <a:endParaRPr sz="21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0" name="Google Shape;350;g3f937be6f6d_0_440"/>
          <p:cNvSpPr txBox="1"/>
          <p:nvPr>
            <p:ph idx="12" type="sldNum"/>
          </p:nvPr>
        </p:nvSpPr>
        <p:spPr>
          <a:xfrm>
            <a:off x="19379095" y="14301788"/>
            <a:ext cx="61743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1" name="Google Shape;351;g3f937be6f6d_0_4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6797" y="4878207"/>
            <a:ext cx="6700841" cy="89328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937be6f6d_0_440"/>
          <p:cNvSpPr/>
          <p:nvPr/>
        </p:nvSpPr>
        <p:spPr>
          <a:xfrm rot="-8606732">
            <a:off x="16390634" y="1759575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g3f937be6f6d_0_4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555975" y="1347324"/>
            <a:ext cx="11335500" cy="1099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937be6f6d_0_448"/>
          <p:cNvSpPr txBox="1"/>
          <p:nvPr>
            <p:ph type="title"/>
          </p:nvPr>
        </p:nvSpPr>
        <p:spPr>
          <a:xfrm>
            <a:off x="1257462" y="1048613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 sz="6600">
                <a:latin typeface="Courier"/>
                <a:ea typeface="Courier"/>
                <a:cs typeface="Courier"/>
                <a:sym typeface="Courier"/>
              </a:rPr>
              <a:t>Regularized Regression</a:t>
            </a:r>
            <a:endParaRPr sz="6600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60" name="Google Shape;360;g3f937be6f6d_0_448"/>
          <p:cNvSpPr txBox="1"/>
          <p:nvPr>
            <p:ph idx="1" type="body"/>
          </p:nvPr>
        </p:nvSpPr>
        <p:spPr>
          <a:xfrm>
            <a:off x="1257312" y="3037163"/>
            <a:ext cx="15773400" cy="6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-514350" lvl="0" marL="5207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urier"/>
              <a:buChar char="•"/>
            </a:pPr>
            <a:r>
              <a:rPr lang="en-US" sz="3100">
                <a:latin typeface="Courier"/>
                <a:ea typeface="Courier"/>
                <a:cs typeface="Courier"/>
                <a:sym typeface="Courier"/>
              </a:rPr>
              <a:t>Recall linear regression:</a:t>
            </a:r>
            <a:endParaRPr sz="3100">
              <a:latin typeface="Courier"/>
              <a:ea typeface="Courier"/>
              <a:cs typeface="Courier"/>
              <a:sym typeface="Courier"/>
            </a:endParaRPr>
          </a:p>
          <a:p>
            <a:pPr indent="-304800" lvl="0" marL="5207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100">
              <a:latin typeface="Courier"/>
              <a:ea typeface="Courier"/>
              <a:cs typeface="Courier"/>
              <a:sym typeface="Courier"/>
            </a:endParaRPr>
          </a:p>
          <a:p>
            <a:pPr indent="-304800" lvl="0" marL="5207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sz="3100">
              <a:latin typeface="Courier"/>
              <a:ea typeface="Courier"/>
              <a:cs typeface="Courier"/>
              <a:sym typeface="Courier"/>
            </a:endParaRPr>
          </a:p>
          <a:p>
            <a:pPr indent="-2413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2413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2413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514350" lvl="0" marL="520700" rtl="0" algn="l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urier"/>
              <a:buChar char="•"/>
            </a:pPr>
            <a:r>
              <a:rPr lang="en-US" sz="3100">
                <a:latin typeface="Courier"/>
                <a:ea typeface="Courier"/>
                <a:cs typeface="Courier"/>
                <a:sym typeface="Courier"/>
              </a:rPr>
              <a:t>Regularized LR:</a:t>
            </a:r>
            <a:endParaRPr sz="3100">
              <a:latin typeface="Courier"/>
              <a:ea typeface="Courier"/>
              <a:cs typeface="Courier"/>
              <a:sym typeface="Courier"/>
            </a:endParaRPr>
          </a:p>
          <a:p>
            <a:pPr indent="-43815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ourier"/>
              <a:buChar char="•"/>
            </a:pPr>
            <a:r>
              <a:rPr lang="en-US" sz="2700">
                <a:latin typeface="Courier"/>
                <a:ea typeface="Courier"/>
                <a:cs typeface="Courier"/>
                <a:sym typeface="Courier"/>
              </a:rPr>
              <a:t>L2-regularized LR:</a:t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2413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4318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en-US" sz="2700">
                <a:latin typeface="Courier"/>
                <a:ea typeface="Courier"/>
                <a:cs typeface="Courier"/>
                <a:sym typeface="Courier"/>
              </a:rPr>
              <a:t>     				where</a:t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2413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43815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ourier"/>
              <a:buChar char="•"/>
            </a:pPr>
            <a:r>
              <a:rPr lang="en-US" sz="2700">
                <a:latin typeface="Courier"/>
                <a:ea typeface="Courier"/>
                <a:cs typeface="Courier"/>
                <a:sym typeface="Courier"/>
              </a:rPr>
              <a:t>L1-regularized LR:</a:t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4318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4318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en-US" sz="2700">
                <a:latin typeface="Courier"/>
                <a:ea typeface="Courier"/>
                <a:cs typeface="Courier"/>
                <a:sym typeface="Courier"/>
              </a:rPr>
              <a:t>     				where</a:t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2413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2413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700">
              <a:latin typeface="Courier"/>
              <a:ea typeface="Courier"/>
              <a:cs typeface="Courier"/>
              <a:sym typeface="Courier"/>
            </a:endParaRPr>
          </a:p>
          <a:p>
            <a:pPr indent="-241300" lvl="1" marL="11176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t/>
            </a:r>
            <a:endParaRPr sz="2700"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361" name="Google Shape;361;g3f937be6f6d_0_4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148" y="7772400"/>
            <a:ext cx="2262188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3f937be6f6d_0_4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78122" y="5372100"/>
            <a:ext cx="2536030" cy="214550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f937be6f6d_0_448"/>
          <p:cNvSpPr txBox="1"/>
          <p:nvPr>
            <p:ph idx="12" type="sldNum"/>
          </p:nvPr>
        </p:nvSpPr>
        <p:spPr>
          <a:xfrm>
            <a:off x="19379095" y="14301788"/>
            <a:ext cx="61743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g3f937be6f6d_0_448"/>
          <p:cNvSpPr/>
          <p:nvPr/>
        </p:nvSpPr>
        <p:spPr>
          <a:xfrm>
            <a:off x="3505235" y="9277350"/>
            <a:ext cx="8686800" cy="552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Performs a model selection directly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f937be6f6d_0_448"/>
          <p:cNvSpPr/>
          <p:nvPr/>
        </p:nvSpPr>
        <p:spPr>
          <a:xfrm rot="-8606011">
            <a:off x="-8094941" y="1285963"/>
            <a:ext cx="12060077" cy="9663166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g3f937be6f6d_0_4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60081" y="-5271919"/>
            <a:ext cx="10603016" cy="10286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f937be6f6d_0_4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13630" y="8040170"/>
            <a:ext cx="1822253" cy="809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3f937be6f6d_0_4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13931" y="6460332"/>
            <a:ext cx="1821656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f937be6f6d_0_4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31565" y="3033788"/>
            <a:ext cx="2247901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g3f937be6f6d_0_4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56886" y="3868613"/>
            <a:ext cx="5524500" cy="1274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3f937be6f6d_0_44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64107" y="5810250"/>
            <a:ext cx="5457833" cy="554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f937be6f6d_0_44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13353" y="7269957"/>
            <a:ext cx="5326848" cy="554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937be6f6d_0_464"/>
          <p:cNvSpPr/>
          <p:nvPr/>
        </p:nvSpPr>
        <p:spPr>
          <a:xfrm rot="-2389435">
            <a:off x="-7170654" y="-12376429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f937be6f6d_0_464"/>
          <p:cNvSpPr txBox="1"/>
          <p:nvPr/>
        </p:nvSpPr>
        <p:spPr>
          <a:xfrm>
            <a:off x="4656782" y="4367888"/>
            <a:ext cx="5852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Ridge Regression: 	      Lasso: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937be6f6d_0_464"/>
          <p:cNvSpPr/>
          <p:nvPr/>
        </p:nvSpPr>
        <p:spPr>
          <a:xfrm>
            <a:off x="12259712" y="4248825"/>
            <a:ext cx="2515212" cy="1485864"/>
          </a:xfrm>
          <a:prstGeom prst="irregularSeal2">
            <a:avLst/>
          </a:prstGeom>
          <a:solidFill>
            <a:srgbClr val="FFFF00"/>
          </a:solidFill>
          <a:ln cap="flat" cmpd="sng" w="38100">
            <a:solidFill>
              <a:srgbClr val="2D2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50" lIns="137150" spcFirstLastPara="1" rIns="1371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HOT!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" id="380" name="Google Shape;380;g3f937be6f6d_0_4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3484" y="3451107"/>
            <a:ext cx="6193634" cy="683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381" name="Google Shape;381;g3f937be6f6d_0_4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1110" y="4972725"/>
            <a:ext cx="2557462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382" name="Google Shape;382;g3f937be6f6d_0_4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30050" y="4998919"/>
            <a:ext cx="2543174" cy="3976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g3f937be6f6d_0_464"/>
          <p:cNvGrpSpPr/>
          <p:nvPr/>
        </p:nvGrpSpPr>
        <p:grpSpPr>
          <a:xfrm>
            <a:off x="9458806" y="6001425"/>
            <a:ext cx="4313719" cy="3771900"/>
            <a:chOff x="3319397" y="3276600"/>
            <a:chExt cx="2874471" cy="2514600"/>
          </a:xfrm>
        </p:grpSpPr>
        <p:pic>
          <p:nvPicPr>
            <p:cNvPr id="384" name="Google Shape;384;g3f937be6f6d_0_464"/>
            <p:cNvPicPr preferRelativeResize="0"/>
            <p:nvPr/>
          </p:nvPicPr>
          <p:blipFill rotWithShape="1">
            <a:blip r:embed="rId7">
              <a:alphaModFix/>
            </a:blip>
            <a:srcRect b="8333" l="0" r="0" t="0"/>
            <a:stretch/>
          </p:blipFill>
          <p:spPr>
            <a:xfrm>
              <a:off x="3641662" y="3276600"/>
              <a:ext cx="2552206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g3f937be6f6d_0_464"/>
            <p:cNvSpPr txBox="1"/>
            <p:nvPr/>
          </p:nvSpPr>
          <p:spPr>
            <a:xfrm>
              <a:off x="3319397" y="4105275"/>
              <a:ext cx="10461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50" lIns="137150" spcFirstLastPara="1" rIns="137150" wrap="square" tIns="685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1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β</a:t>
              </a: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with 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constant 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l1 norm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6" name="Google Shape;386;g3f937be6f6d_0_464"/>
            <p:cNvCxnSpPr/>
            <p:nvPr/>
          </p:nvCxnSpPr>
          <p:spPr>
            <a:xfrm>
              <a:off x="4974877" y="3429000"/>
              <a:ext cx="381000" cy="2286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87" name="Google Shape;387;g3f937be6f6d_0_464"/>
            <p:cNvCxnSpPr/>
            <p:nvPr/>
          </p:nvCxnSpPr>
          <p:spPr>
            <a:xfrm flipH="1" rot="-5400000">
              <a:off x="4213007" y="4953000"/>
              <a:ext cx="152400" cy="15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88" name="Google Shape;388;g3f937be6f6d_0_464"/>
            <p:cNvSpPr/>
            <p:nvPr/>
          </p:nvSpPr>
          <p:spPr>
            <a:xfrm rot="-2639359">
              <a:off x="4435244" y="4992784"/>
              <a:ext cx="457004" cy="457219"/>
            </a:xfrm>
            <a:prstGeom prst="rect">
              <a:avLst/>
            </a:prstGeom>
            <a:solidFill>
              <a:srgbClr val="FFFFFF"/>
            </a:solidFill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t/>
              </a:r>
              <a:endParaRPr b="0" i="0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9" name="Google Shape;389;g3f937be6f6d_0_464"/>
            <p:cNvCxnSpPr/>
            <p:nvPr/>
          </p:nvCxnSpPr>
          <p:spPr>
            <a:xfrm>
              <a:off x="4236815" y="5216525"/>
              <a:ext cx="838200" cy="1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0" name="Google Shape;390;g3f937be6f6d_0_464"/>
            <p:cNvCxnSpPr/>
            <p:nvPr/>
          </p:nvCxnSpPr>
          <p:spPr>
            <a:xfrm rot="5400000">
              <a:off x="4248692" y="5228475"/>
              <a:ext cx="838200" cy="1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txp_fig" id="391" name="Google Shape;391;g3f937be6f6d_0_4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01622" y="3486825"/>
            <a:ext cx="4229101" cy="6405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2" name="Google Shape;392;g3f937be6f6d_0_464"/>
          <p:cNvGrpSpPr/>
          <p:nvPr/>
        </p:nvGrpSpPr>
        <p:grpSpPr>
          <a:xfrm>
            <a:off x="3627809" y="5717815"/>
            <a:ext cx="8000199" cy="4055055"/>
            <a:chOff x="42797" y="3087469"/>
            <a:chExt cx="5332755" cy="2703731"/>
          </a:xfrm>
        </p:grpSpPr>
        <p:pic>
          <p:nvPicPr>
            <p:cNvPr id="393" name="Google Shape;393;g3f937be6f6d_0_464"/>
            <p:cNvPicPr preferRelativeResize="0"/>
            <p:nvPr/>
          </p:nvPicPr>
          <p:blipFill rotWithShape="1">
            <a:blip r:embed="rId9">
              <a:alphaModFix/>
            </a:blip>
            <a:srcRect b="7699" l="2960" r="0" t="2775"/>
            <a:stretch/>
          </p:blipFill>
          <p:spPr>
            <a:xfrm>
              <a:off x="698842" y="3335216"/>
              <a:ext cx="2497872" cy="24559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g3f937be6f6d_0_464"/>
            <p:cNvSpPr txBox="1"/>
            <p:nvPr/>
          </p:nvSpPr>
          <p:spPr>
            <a:xfrm>
              <a:off x="3222752" y="3087469"/>
              <a:ext cx="2152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50" lIns="137150" spcFirstLastPara="1" rIns="137150" wrap="square" tIns="685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βs</a:t>
              </a: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with constant </a:t>
              </a:r>
              <a:r>
                <a:rPr b="0" i="1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b="0" i="1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β</a:t>
              </a: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(level sets of </a:t>
              </a:r>
              <a:r>
                <a:rPr b="0" i="1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b="0" i="1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β</a:t>
              </a: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))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3f937be6f6d_0_464"/>
            <p:cNvSpPr txBox="1"/>
            <p:nvPr/>
          </p:nvSpPr>
          <p:spPr>
            <a:xfrm>
              <a:off x="42797" y="4105139"/>
              <a:ext cx="1046100" cy="9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50" lIns="137150" spcFirstLastPara="1" rIns="137150" wrap="square" tIns="685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1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β</a:t>
              </a: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with 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constant 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l2 norm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6" name="Google Shape;396;g3f937be6f6d_0_464"/>
            <p:cNvCxnSpPr/>
            <p:nvPr/>
          </p:nvCxnSpPr>
          <p:spPr>
            <a:xfrm flipH="1">
              <a:off x="2917995" y="3371654"/>
              <a:ext cx="196800" cy="133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97" name="Google Shape;397;g3f937be6f6d_0_464"/>
            <p:cNvCxnSpPr/>
            <p:nvPr/>
          </p:nvCxnSpPr>
          <p:spPr>
            <a:xfrm flipH="1" rot="-5400000">
              <a:off x="936614" y="4876727"/>
              <a:ext cx="152400" cy="15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98" name="Google Shape;398;g3f937be6f6d_0_464"/>
            <p:cNvSpPr/>
            <p:nvPr/>
          </p:nvSpPr>
          <p:spPr>
            <a:xfrm>
              <a:off x="1092198" y="4886252"/>
              <a:ext cx="685800" cy="6858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50" lIns="137150" spcFirstLastPara="1" rIns="137150" wrap="square" tIns="685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t/>
              </a:r>
              <a:endParaRPr b="0" i="0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9" name="Google Shape;399;g3f937be6f6d_0_464"/>
            <p:cNvCxnSpPr/>
            <p:nvPr/>
          </p:nvCxnSpPr>
          <p:spPr>
            <a:xfrm>
              <a:off x="1012818" y="5208541"/>
              <a:ext cx="838200" cy="1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g3f937be6f6d_0_464"/>
            <p:cNvCxnSpPr/>
            <p:nvPr/>
          </p:nvCxnSpPr>
          <p:spPr>
            <a:xfrm rot="5400000">
              <a:off x="1024794" y="5218870"/>
              <a:ext cx="838200" cy="1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01" name="Google Shape;401;g3f937be6f6d_0_464"/>
            <p:cNvSpPr txBox="1"/>
            <p:nvPr/>
          </p:nvSpPr>
          <p:spPr>
            <a:xfrm>
              <a:off x="1143001" y="4114665"/>
              <a:ext cx="355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50" lIns="137150" spcFirstLastPara="1" rIns="137150" wrap="square" tIns="685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1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β</a:t>
              </a:r>
              <a:r>
                <a:rPr b="0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g3f937be6f6d_0_464"/>
            <p:cNvSpPr txBox="1"/>
            <p:nvPr/>
          </p:nvSpPr>
          <p:spPr>
            <a:xfrm>
              <a:off x="1997127" y="5148211"/>
              <a:ext cx="355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50" lIns="137150" spcFirstLastPara="1" rIns="137150" wrap="square" tIns="685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1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β</a:t>
              </a:r>
              <a:r>
                <a:rPr b="0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3" name="Google Shape;403;g3f937be6f6d_0_464"/>
          <p:cNvSpPr txBox="1"/>
          <p:nvPr/>
        </p:nvSpPr>
        <p:spPr>
          <a:xfrm>
            <a:off x="4313793" y="3448725"/>
            <a:ext cx="279000" cy="46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g3f937be6f6d_0_464"/>
          <p:cNvSpPr txBox="1"/>
          <p:nvPr/>
        </p:nvSpPr>
        <p:spPr>
          <a:xfrm>
            <a:off x="6257399" y="3448725"/>
            <a:ext cx="279000" cy="46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g3f937be6f6d_0_464"/>
          <p:cNvSpPr/>
          <p:nvPr/>
        </p:nvSpPr>
        <p:spPr>
          <a:xfrm flipH="1" rot="3986662">
            <a:off x="13141474" y="8066036"/>
            <a:ext cx="8070370" cy="6559010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10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f937be6f6d_0_464"/>
          <p:cNvSpPr txBox="1"/>
          <p:nvPr>
            <p:ph type="title"/>
          </p:nvPr>
        </p:nvSpPr>
        <p:spPr>
          <a:xfrm>
            <a:off x="1257462" y="1048613"/>
            <a:ext cx="157734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 sz="6600">
                <a:latin typeface="Courier"/>
                <a:ea typeface="Courier"/>
                <a:cs typeface="Courier"/>
                <a:sym typeface="Courier"/>
              </a:rPr>
              <a:t>Ridge Regression vs Lasso</a:t>
            </a:r>
            <a:endParaRPr sz="6600"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ransition spd="med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7"/>
          <p:cNvSpPr txBox="1"/>
          <p:nvPr/>
        </p:nvSpPr>
        <p:spPr>
          <a:xfrm>
            <a:off x="1028700" y="3412483"/>
            <a:ext cx="12185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Thank you for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7"/>
          <p:cNvSpPr/>
          <p:nvPr/>
        </p:nvSpPr>
        <p:spPr>
          <a:xfrm rot="-1770831">
            <a:off x="9624610" y="4440432"/>
            <a:ext cx="12108848" cy="9841191"/>
          </a:xfrm>
          <a:custGeom>
            <a:rect b="b" l="l" r="r" t="t"/>
            <a:pathLst>
              <a:path extrusionOk="0" h="9843868" w="12112141">
                <a:moveTo>
                  <a:pt x="0" y="0"/>
                </a:moveTo>
                <a:lnTo>
                  <a:pt x="12112141" y="0"/>
                </a:lnTo>
                <a:lnTo>
                  <a:pt x="12112141" y="9843868"/>
                </a:lnTo>
                <a:lnTo>
                  <a:pt x="0" y="9843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57"/>
          <p:cNvSpPr txBox="1"/>
          <p:nvPr/>
        </p:nvSpPr>
        <p:spPr>
          <a:xfrm>
            <a:off x="2112722" y="5071350"/>
            <a:ext cx="15732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2BB4D4"/>
                </a:solidFill>
                <a:latin typeface="Montserrat"/>
                <a:ea typeface="Montserrat"/>
                <a:cs typeface="Montserrat"/>
                <a:sym typeface="Montserrat"/>
              </a:rPr>
              <a:t>your attention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Song Thiên Long Nguyễn</dc:creator>
</cp:coreProperties>
</file>
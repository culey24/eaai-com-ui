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10287000" cx="18288000"/>
  <p:notesSz cx="6858000" cy="9144000"/>
  <p:embeddedFontLst>
    <p:embeddedFont>
      <p:font typeface="Montserra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jH8haqkv2e3BkxgKx+B7S0+j/d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regular.fntdata"/><Relationship Id="rId25" Type="http://schemas.openxmlformats.org/officeDocument/2006/relationships/slide" Target="slides/slide20.xml"/><Relationship Id="rId28" Type="http://schemas.openxmlformats.org/officeDocument/2006/relationships/font" Target="fonts/Montserrat-italic.fntdata"/><Relationship Id="rId27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da79c88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6da79c88bb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7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7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7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7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7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8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2" name="Google Shape;202;p8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8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8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8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7" name="Google Shape;237;p8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6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6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5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6da79c88bb_0_8"/>
          <p:cNvSpPr txBox="1"/>
          <p:nvPr/>
        </p:nvSpPr>
        <p:spPr>
          <a:xfrm>
            <a:off x="1736100" y="4066058"/>
            <a:ext cx="14815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7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Association Rules Mining</a:t>
            </a:r>
            <a:endParaRPr b="0" i="0" sz="7000" u="none" cap="none" strike="noStrike">
              <a:solidFill>
                <a:srgbClr val="72EAE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36da79c88bb_0_8"/>
          <p:cNvSpPr/>
          <p:nvPr/>
        </p:nvSpPr>
        <p:spPr>
          <a:xfrm rot="-8100000">
            <a:off x="12488683" y="-3296726"/>
            <a:ext cx="10644226" cy="865085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36da79c88bb_0_8"/>
          <p:cNvSpPr/>
          <p:nvPr/>
        </p:nvSpPr>
        <p:spPr>
          <a:xfrm rot="-8606732">
            <a:off x="-7159680" y="556981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g36da79c88bb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3775" y="9057100"/>
            <a:ext cx="8398076" cy="26783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1"/>
          <p:cNvSpPr/>
          <p:nvPr/>
        </p:nvSpPr>
        <p:spPr>
          <a:xfrm rot="-8100000">
            <a:off x="-9317599" y="-4429065"/>
            <a:ext cx="13096292" cy="15048009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71"/>
          <p:cNvSpPr/>
          <p:nvPr/>
        </p:nvSpPr>
        <p:spPr>
          <a:xfrm rot="-8606732">
            <a:off x="13776539" y="737003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71"/>
          <p:cNvSpPr txBox="1"/>
          <p:nvPr/>
        </p:nvSpPr>
        <p:spPr>
          <a:xfrm>
            <a:off x="2310600" y="1544375"/>
            <a:ext cx="15977400" cy="77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noAutofit/>
          </a:bodyPr>
          <a:lstStyle/>
          <a:p>
            <a:pPr indent="-4508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R. Agrawal, T. Imielinski, and A. Swami. </a:t>
            </a:r>
            <a:r>
              <a:rPr b="1" lang="en-US" sz="3500">
                <a:latin typeface="Montserrat"/>
                <a:ea typeface="Montserrat"/>
                <a:cs typeface="Montserrat"/>
                <a:sym typeface="Montserrat"/>
              </a:rPr>
              <a:t>Mining association rules between sets of items in large databases</a:t>
            </a: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. In Proceedings of the ACM SIGMOD International Conference on Management of Data, pages 207-216, Washington D.C., May 1993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500"/>
              <a:buChar char="•"/>
            </a:pP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R. Agrawal and R. Srikant. </a:t>
            </a:r>
            <a:r>
              <a:rPr b="1" lang="en-US" sz="3500">
                <a:latin typeface="Montserrat"/>
                <a:ea typeface="Montserrat"/>
                <a:cs typeface="Montserrat"/>
                <a:sym typeface="Montserrat"/>
              </a:rPr>
              <a:t>Fast algorithms for mining association rules in large databases.</a:t>
            </a: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 In Jorge B. Bocca, Matthias Jarke, and Carlo Zaniolo</a:t>
            </a: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500">
                <a:latin typeface="Montserrat"/>
                <a:ea typeface="Montserrat"/>
                <a:cs typeface="Montserrat"/>
                <a:sym typeface="Montserrat"/>
              </a:rPr>
              <a:t>editors, Proceedings of the 20th International Conference on Very Large Data Bases, VLDB, pages 487-499, Santiago, Chile, September 1994</a:t>
            </a:r>
            <a:endParaRPr sz="3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71"/>
          <p:cNvSpPr txBox="1"/>
          <p:nvPr/>
        </p:nvSpPr>
        <p:spPr>
          <a:xfrm>
            <a:off x="2272811" y="31855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Reference</a:t>
            </a:r>
            <a:endParaRPr b="1" i="0" sz="5000" u="none" cap="none" strike="noStrik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0"/>
          <p:cNvSpPr/>
          <p:nvPr/>
        </p:nvSpPr>
        <p:spPr>
          <a:xfrm rot="-8100000">
            <a:off x="-9807545" y="-122201"/>
            <a:ext cx="19615090" cy="19615090"/>
          </a:xfrm>
          <a:custGeom>
            <a:rect b="b" l="l" r="r" t="t"/>
            <a:pathLst>
              <a:path extrusionOk="0" h="19604188" w="19604188">
                <a:moveTo>
                  <a:pt x="0" y="0"/>
                </a:moveTo>
                <a:lnTo>
                  <a:pt x="19604188" y="0"/>
                </a:lnTo>
                <a:lnTo>
                  <a:pt x="19604188" y="19604188"/>
                </a:lnTo>
                <a:lnTo>
                  <a:pt x="0" y="196041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70"/>
          <p:cNvSpPr/>
          <p:nvPr/>
        </p:nvSpPr>
        <p:spPr>
          <a:xfrm flipH="1" rot="-9301188">
            <a:off x="10445832" y="-3243357"/>
            <a:ext cx="11455094" cy="7528992"/>
          </a:xfrm>
          <a:custGeom>
            <a:rect b="b" l="l" r="r" t="t"/>
            <a:pathLst>
              <a:path extrusionOk="0" h="6580089" w="8096307">
                <a:moveTo>
                  <a:pt x="8096307" y="0"/>
                </a:moveTo>
                <a:lnTo>
                  <a:pt x="0" y="0"/>
                </a:lnTo>
                <a:lnTo>
                  <a:pt x="0" y="6580090"/>
                </a:lnTo>
                <a:lnTo>
                  <a:pt x="8096307" y="6580090"/>
                </a:lnTo>
                <a:lnTo>
                  <a:pt x="8096307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70"/>
          <p:cNvSpPr txBox="1"/>
          <p:nvPr/>
        </p:nvSpPr>
        <p:spPr>
          <a:xfrm>
            <a:off x="2426930" y="32339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70"/>
          <p:cNvSpPr txBox="1"/>
          <p:nvPr/>
        </p:nvSpPr>
        <p:spPr>
          <a:xfrm>
            <a:off x="3980335" y="3257092"/>
            <a:ext cx="1170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70"/>
          <p:cNvSpPr txBox="1"/>
          <p:nvPr/>
        </p:nvSpPr>
        <p:spPr>
          <a:xfrm>
            <a:off x="2426930" y="42626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70"/>
          <p:cNvSpPr txBox="1"/>
          <p:nvPr/>
        </p:nvSpPr>
        <p:spPr>
          <a:xfrm>
            <a:off x="3980322" y="4285800"/>
            <a:ext cx="1028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70"/>
          <p:cNvSpPr txBox="1"/>
          <p:nvPr/>
        </p:nvSpPr>
        <p:spPr>
          <a:xfrm>
            <a:off x="2426930" y="52913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70"/>
          <p:cNvSpPr txBox="1"/>
          <p:nvPr/>
        </p:nvSpPr>
        <p:spPr>
          <a:xfrm>
            <a:off x="3980336" y="5314492"/>
            <a:ext cx="976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70"/>
          <p:cNvSpPr txBox="1"/>
          <p:nvPr/>
        </p:nvSpPr>
        <p:spPr>
          <a:xfrm>
            <a:off x="2426930" y="6320017"/>
            <a:ext cx="12435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0" i="0" lang="en-US" sz="51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b="0" i="0" sz="51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70"/>
          <p:cNvSpPr txBox="1"/>
          <p:nvPr/>
        </p:nvSpPr>
        <p:spPr>
          <a:xfrm>
            <a:off x="3980336" y="6343192"/>
            <a:ext cx="976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70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TABLE OF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2"/>
          <p:cNvSpPr/>
          <p:nvPr/>
        </p:nvSpPr>
        <p:spPr>
          <a:xfrm rot="-7063110">
            <a:off x="-6461909" y="-61081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2"/>
          <p:cNvSpPr/>
          <p:nvPr/>
        </p:nvSpPr>
        <p:spPr>
          <a:xfrm rot="-8100000">
            <a:off x="12294831" y="-38744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2"/>
          <p:cNvSpPr/>
          <p:nvPr/>
        </p:nvSpPr>
        <p:spPr>
          <a:xfrm rot="-8606732">
            <a:off x="12900238" y="9238811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72"/>
          <p:cNvSpPr txBox="1"/>
          <p:nvPr/>
        </p:nvSpPr>
        <p:spPr>
          <a:xfrm>
            <a:off x="1828150" y="2709700"/>
            <a:ext cx="13689300" cy="44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noAutofit/>
          </a:bodyPr>
          <a:lstStyle/>
          <a:p>
            <a:pPr indent="-457200" lvl="0" marL="457200" rtl="0" algn="just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Char char="●"/>
            </a:pP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Retail organizations have a massive amounts of sales data, referred to as the basket data.</a:t>
            </a:r>
            <a:endParaRPr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1" marL="13716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Char char="○"/>
            </a:pP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From that data, how can we know the associations between items bought in a transaction?</a:t>
            </a:r>
            <a:endParaRPr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57200" lvl="0" marL="457200" rtl="0" algn="just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Char char="●"/>
            </a:pP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 1993, </a:t>
            </a: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Rakes</a:t>
            </a:r>
            <a:r>
              <a:rPr lang="en-US" sz="3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Agrawal proposed a method called: Association Rules Mining.</a:t>
            </a:r>
            <a:endParaRPr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72"/>
          <p:cNvSpPr txBox="1"/>
          <p:nvPr/>
        </p:nvSpPr>
        <p:spPr>
          <a:xfrm>
            <a:off x="2002011" y="832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3"/>
          <p:cNvSpPr txBox="1"/>
          <p:nvPr/>
        </p:nvSpPr>
        <p:spPr>
          <a:xfrm>
            <a:off x="1282100" y="6992938"/>
            <a:ext cx="13199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5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 association rule is: [Butter, Bread] </a:t>
            </a:r>
            <a:r>
              <a:rPr lang="en-US" sz="5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⇒</a:t>
            </a:r>
            <a:r>
              <a:rPr lang="en-US" sz="40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[Milk]</a:t>
            </a:r>
            <a:endParaRPr i="0" sz="4000" u="none" cap="none" strike="noStrike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73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3"/>
          <p:cNvSpPr/>
          <p:nvPr/>
        </p:nvSpPr>
        <p:spPr>
          <a:xfrm rot="-1111536">
            <a:off x="10462708" y="-4691481"/>
            <a:ext cx="10436174" cy="8481763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3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7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2100" y="2241075"/>
            <a:ext cx="11201052" cy="4470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4"/>
          <p:cNvSpPr/>
          <p:nvPr/>
        </p:nvSpPr>
        <p:spPr>
          <a:xfrm rot="-2385946">
            <a:off x="-5686274" y="-11196460"/>
            <a:ext cx="17617704" cy="17617704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74"/>
          <p:cNvSpPr/>
          <p:nvPr/>
        </p:nvSpPr>
        <p:spPr>
          <a:xfrm flipH="1" rot="3987423">
            <a:off x="12599456" y="7261552"/>
            <a:ext cx="8063091" cy="6553094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74"/>
          <p:cNvSpPr txBox="1"/>
          <p:nvPr/>
        </p:nvSpPr>
        <p:spPr>
          <a:xfrm>
            <a:off x="876286" y="1184480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74"/>
          <p:cNvSpPr txBox="1"/>
          <p:nvPr/>
        </p:nvSpPr>
        <p:spPr>
          <a:xfrm>
            <a:off x="1400400" y="2434550"/>
            <a:ext cx="16887600" cy="65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 of items: I = </a:t>
            </a:r>
            <a:r>
              <a:rPr i="1"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{i₁, i₂, i₃, …, iₙ}</a:t>
            </a:r>
            <a:endParaRPr i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Transaction: </a:t>
            </a:r>
            <a:r>
              <a:rPr i="1"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(TransacId, T)</a:t>
            </a: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: T ⊆ I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Itemset, k-itemset: X, Y ⊆ I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Association rule: X ⇒ Y : X ∩ Y = Φ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 of the itemset X: Number of transactions that contain X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Support of the rule X ⇒ Y: Support of X ∪ Y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5"/>
          <p:cNvSpPr/>
          <p:nvPr/>
        </p:nvSpPr>
        <p:spPr>
          <a:xfrm rot="-2505159">
            <a:off x="12361571" y="6168244"/>
            <a:ext cx="10629580" cy="8638950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75"/>
          <p:cNvSpPr txBox="1"/>
          <p:nvPr/>
        </p:nvSpPr>
        <p:spPr>
          <a:xfrm>
            <a:off x="593111" y="7211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3" name="Google Shape;14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6463966" y="-2313975"/>
            <a:ext cx="10603018" cy="102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5"/>
          <p:cNvSpPr txBox="1"/>
          <p:nvPr/>
        </p:nvSpPr>
        <p:spPr>
          <a:xfrm>
            <a:off x="2313350" y="1995225"/>
            <a:ext cx="141366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Confidence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Association rule mining: Generate all association rules that have support and confidence greater than the user-specified minimum support (minSup) and minimum confidence (minConf), respectively.</a:t>
            </a:r>
            <a:endParaRPr i="0" sz="4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7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45600" y="3099177"/>
            <a:ext cx="10603026" cy="1468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6"/>
          <p:cNvSpPr/>
          <p:nvPr/>
        </p:nvSpPr>
        <p:spPr>
          <a:xfrm rot="-2385946">
            <a:off x="-5686274" y="-11196460"/>
            <a:ext cx="17617704" cy="17617704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76"/>
          <p:cNvSpPr/>
          <p:nvPr/>
        </p:nvSpPr>
        <p:spPr>
          <a:xfrm flipH="1" rot="3986662">
            <a:off x="12937473" y="7488361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76"/>
          <p:cNvSpPr txBox="1"/>
          <p:nvPr/>
        </p:nvSpPr>
        <p:spPr>
          <a:xfrm>
            <a:off x="2213925" y="2649750"/>
            <a:ext cx="14287500" cy="54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Association Rules Mining can be decomposed into 2 sub problems: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 problem 1: Finding all frequent itemsets.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is a frequent itemset </a:t>
            </a:r>
            <a:r>
              <a:rPr lang="en-US" sz="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⇔</a:t>
            </a: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Support(X) &gt;= minSup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is a frequent itemset </a:t>
            </a:r>
            <a:r>
              <a:rPr lang="en-US" sz="5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⇔</a:t>
            </a: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All subsets of X are frequent itemsets.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76"/>
          <p:cNvSpPr txBox="1"/>
          <p:nvPr/>
        </p:nvSpPr>
        <p:spPr>
          <a:xfrm>
            <a:off x="593111" y="7211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b="0" i="0" sz="5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7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450118" y="2161992"/>
            <a:ext cx="10603018" cy="10286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9250" y="2007975"/>
            <a:ext cx="13309651" cy="791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77"/>
          <p:cNvSpPr/>
          <p:nvPr/>
        </p:nvSpPr>
        <p:spPr>
          <a:xfrm rot="-8606732">
            <a:off x="12081464" y="-4936139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8"/>
          <p:cNvSpPr/>
          <p:nvPr/>
        </p:nvSpPr>
        <p:spPr>
          <a:xfrm rot="-2385946">
            <a:off x="-5921181" y="-11147083"/>
            <a:ext cx="17617704" cy="17617704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78"/>
          <p:cNvSpPr/>
          <p:nvPr/>
        </p:nvSpPr>
        <p:spPr>
          <a:xfrm flipH="1" rot="3984778">
            <a:off x="13262573" y="6812039"/>
            <a:ext cx="7808355" cy="8275681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78"/>
          <p:cNvSpPr txBox="1"/>
          <p:nvPr/>
        </p:nvSpPr>
        <p:spPr>
          <a:xfrm>
            <a:off x="3980335" y="3257092"/>
            <a:ext cx="11707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7B7B7B"/>
                </a:solidFill>
                <a:latin typeface="Montserrat"/>
                <a:ea typeface="Montserrat"/>
                <a:cs typeface="Montserrat"/>
                <a:sym typeface="Montserrat"/>
              </a:rPr>
              <a:t>Introduction</a:t>
            </a:r>
            <a:endParaRPr i="0" sz="4200" u="none" cap="none" strike="noStrike">
              <a:solidFill>
                <a:srgbClr val="7B7B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78"/>
          <p:cNvSpPr txBox="1"/>
          <p:nvPr/>
        </p:nvSpPr>
        <p:spPr>
          <a:xfrm>
            <a:off x="3980322" y="4285800"/>
            <a:ext cx="1028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-US" sz="4200">
                <a:solidFill>
                  <a:srgbClr val="7B7B7B"/>
                </a:solidFill>
                <a:latin typeface="Montserrat"/>
                <a:ea typeface="Montserrat"/>
                <a:cs typeface="Montserrat"/>
                <a:sym typeface="Montserrat"/>
              </a:rPr>
              <a:t>Formal statement &amp; Decomposition</a:t>
            </a:r>
            <a:endParaRPr i="0" sz="4200" u="none" cap="none" strike="noStrike">
              <a:solidFill>
                <a:srgbClr val="7B7B7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78"/>
          <p:cNvSpPr txBox="1"/>
          <p:nvPr/>
        </p:nvSpPr>
        <p:spPr>
          <a:xfrm>
            <a:off x="3980336" y="5314492"/>
            <a:ext cx="976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78"/>
          <p:cNvSpPr txBox="1"/>
          <p:nvPr/>
        </p:nvSpPr>
        <p:spPr>
          <a:xfrm>
            <a:off x="3980336" y="6343192"/>
            <a:ext cx="9763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37125" lIns="137125" spcFirstLastPara="1" rIns="137125" wrap="square" tIns="1371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lang="en-US" sz="4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1" i="0" sz="4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78"/>
          <p:cNvSpPr txBox="1"/>
          <p:nvPr/>
        </p:nvSpPr>
        <p:spPr>
          <a:xfrm>
            <a:off x="2086211" y="19053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Outline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9"/>
          <p:cNvSpPr/>
          <p:nvPr/>
        </p:nvSpPr>
        <p:spPr>
          <a:xfrm rot="-1108649">
            <a:off x="11992430" y="-5590233"/>
            <a:ext cx="11121450" cy="10514960"/>
          </a:xfrm>
          <a:custGeom>
            <a:rect b="b" l="l" r="r" t="t"/>
            <a:pathLst>
              <a:path extrusionOk="0" h="8487866" w="10443683">
                <a:moveTo>
                  <a:pt x="0" y="0"/>
                </a:moveTo>
                <a:lnTo>
                  <a:pt x="10443682" y="0"/>
                </a:lnTo>
                <a:lnTo>
                  <a:pt x="10443682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79"/>
          <p:cNvSpPr/>
          <p:nvPr/>
        </p:nvSpPr>
        <p:spPr>
          <a:xfrm>
            <a:off x="0" y="8476966"/>
            <a:ext cx="9727319" cy="3106962"/>
          </a:xfrm>
          <a:custGeom>
            <a:rect b="b" l="l" r="r" t="t"/>
            <a:pathLst>
              <a:path extrusionOk="0" h="3106962" w="9727319">
                <a:moveTo>
                  <a:pt x="0" y="0"/>
                </a:moveTo>
                <a:lnTo>
                  <a:pt x="9727319" y="0"/>
                </a:lnTo>
                <a:lnTo>
                  <a:pt x="9727319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79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- Concepts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9"/>
          <p:cNvSpPr txBox="1"/>
          <p:nvPr/>
        </p:nvSpPr>
        <p:spPr>
          <a:xfrm>
            <a:off x="1320250" y="5875675"/>
            <a:ext cx="16700100" cy="26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50" lIns="137125" spcFirstLastPara="1" rIns="137125" wrap="square" tIns="68550">
            <a:spAutoFit/>
          </a:bodyPr>
          <a:lstStyle/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is frequent iff support(X) &gt;= min_sup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Ex: min_sup = 3/9, =support{I1, I2} = 4/9. So {I1, I2} is frequent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 is a k-itemset iff X has k items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○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Ex: {I1, I2, I5} is a 3-itemset</a:t>
            </a:r>
            <a:endParaRPr sz="4000">
              <a:solidFill>
                <a:srgbClr val="1000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19750" y="1785584"/>
            <a:ext cx="10308029" cy="3795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9450750" y="-1356050"/>
            <a:ext cx="15183627" cy="1473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81"/>
          <p:cNvSpPr/>
          <p:nvPr/>
        </p:nvSpPr>
        <p:spPr>
          <a:xfrm rot="-8606732">
            <a:off x="14117985" y="4934182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81"/>
          <p:cNvSpPr txBox="1"/>
          <p:nvPr/>
        </p:nvSpPr>
        <p:spPr>
          <a:xfrm>
            <a:off x="618861" y="54090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- Purpose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1"/>
          <p:cNvSpPr txBox="1"/>
          <p:nvPr/>
        </p:nvSpPr>
        <p:spPr>
          <a:xfrm>
            <a:off x="2757850" y="7994250"/>
            <a:ext cx="11195100" cy="14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700">
            <a:spAutoFit/>
          </a:bodyPr>
          <a:lstStyle/>
          <a:p>
            <a:pPr indent="-482600" lvl="0" marL="457200" marR="45716" rtl="0" algn="just">
              <a:lnSpc>
                <a:spcPct val="107619"/>
              </a:lnSpc>
              <a:spcBef>
                <a:spcPts val="1247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solidFill>
                  <a:schemeClr val="dk1"/>
                </a:solidFill>
              </a:rPr>
              <a:t>Find all k-itemsets having support &gt;= min_sup</a:t>
            </a:r>
            <a:endParaRPr sz="4000">
              <a:solidFill>
                <a:schemeClr val="dk1"/>
              </a:solidFill>
            </a:endParaRPr>
          </a:p>
          <a:p>
            <a:pPr indent="-482600" lvl="0" marL="457200" marR="45716" rtl="0" algn="just">
              <a:lnSpc>
                <a:spcPct val="10761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lang="en-US" sz="4000">
                <a:solidFill>
                  <a:schemeClr val="dk1"/>
                </a:solidFill>
              </a:rPr>
              <a:t>k = 1, 2, ..., 5</a:t>
            </a:r>
            <a:endParaRPr sz="315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0" name="Google Shape;190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3300" y="1601850"/>
            <a:ext cx="7112199" cy="6392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2"/>
          <p:cNvSpPr/>
          <p:nvPr/>
        </p:nvSpPr>
        <p:spPr>
          <a:xfrm rot="-2389435">
            <a:off x="-5535145" y="-10479988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82"/>
          <p:cNvSpPr/>
          <p:nvPr/>
        </p:nvSpPr>
        <p:spPr>
          <a:xfrm flipH="1" rot="3986682">
            <a:off x="13222747" y="6434789"/>
            <a:ext cx="8927962" cy="8150917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82"/>
          <p:cNvSpPr txBox="1"/>
          <p:nvPr/>
        </p:nvSpPr>
        <p:spPr>
          <a:xfrm>
            <a:off x="415661" y="463655"/>
            <a:ext cx="14815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– Step by Step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0199" y="1557975"/>
            <a:ext cx="11595051" cy="872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82"/>
          <p:cNvSpPr txBox="1"/>
          <p:nvPr/>
        </p:nvSpPr>
        <p:spPr>
          <a:xfrm>
            <a:off x="10650866" y="2767191"/>
            <a:ext cx="98577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min_sup = 2/9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minimum support count = 2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4"/>
          <p:cNvSpPr/>
          <p:nvPr/>
        </p:nvSpPr>
        <p:spPr>
          <a:xfrm rot="-7063110">
            <a:off x="-7743759" y="-610815"/>
            <a:ext cx="11508636" cy="11508636"/>
          </a:xfrm>
          <a:custGeom>
            <a:rect b="b" l="l" r="r" t="t"/>
            <a:pathLst>
              <a:path extrusionOk="0" h="11511802" w="11511802">
                <a:moveTo>
                  <a:pt x="0" y="0"/>
                </a:moveTo>
                <a:lnTo>
                  <a:pt x="11511802" y="0"/>
                </a:lnTo>
                <a:lnTo>
                  <a:pt x="11511802" y="11511802"/>
                </a:lnTo>
                <a:lnTo>
                  <a:pt x="0" y="115118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4"/>
          <p:cNvSpPr/>
          <p:nvPr/>
        </p:nvSpPr>
        <p:spPr>
          <a:xfrm rot="-8100000">
            <a:off x="12104331" y="-4103025"/>
            <a:ext cx="10650145" cy="8655664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4"/>
          <p:cNvSpPr/>
          <p:nvPr/>
        </p:nvSpPr>
        <p:spPr>
          <a:xfrm rot="-8606732">
            <a:off x="12862138" y="9367086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4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- Properties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4"/>
          <p:cNvSpPr txBox="1"/>
          <p:nvPr/>
        </p:nvSpPr>
        <p:spPr>
          <a:xfrm>
            <a:off x="2410100" y="2413350"/>
            <a:ext cx="14260200" cy="42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75">
            <a:spAutoFit/>
          </a:bodyPr>
          <a:lstStyle/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 Medium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prior knowledge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Apriori property: All nonempty subsets of a frequent itemset must also be frequent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Iterative search for frequent itemsets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 Medium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Compute k+1-itemsets from k-itemsets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5"/>
          <p:cNvSpPr/>
          <p:nvPr/>
        </p:nvSpPr>
        <p:spPr>
          <a:xfrm rot="-8606732">
            <a:off x="-7589499" y="-892177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5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-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22206" y="-3856527"/>
            <a:ext cx="10603016" cy="1028699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85"/>
          <p:cNvSpPr txBox="1"/>
          <p:nvPr/>
        </p:nvSpPr>
        <p:spPr>
          <a:xfrm>
            <a:off x="2146854" y="5875496"/>
            <a:ext cx="91800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0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Font typeface="Arial"/>
              <a:buNone/>
            </a:pPr>
            <a:r>
              <a:rPr b="1" i="0" lang="en-US" sz="20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• • • </a:t>
            </a:r>
            <a:endParaRPr b="1" i="0" sz="20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4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8"/>
              <a:buFont typeface="Arial"/>
              <a:buNone/>
            </a:pPr>
            <a:r>
              <a:t/>
            </a:r>
            <a:endParaRPr b="1" i="0" sz="20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004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28"/>
              <a:buFont typeface="Arial"/>
              <a:buNone/>
            </a:pPr>
            <a:r>
              <a:rPr b="1" i="0" lang="en-US" sz="202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endParaRPr b="1" i="0" sz="202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7" name="Google Shape;217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7901" y="1631051"/>
            <a:ext cx="11761663" cy="865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03667" y="1808126"/>
            <a:ext cx="12075666" cy="11715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6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Apriori Algorithm - Methods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0100" y="1808125"/>
            <a:ext cx="15781025" cy="724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8981" y="-5402300"/>
            <a:ext cx="10603018" cy="10286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87"/>
          <p:cNvSpPr/>
          <p:nvPr/>
        </p:nvSpPr>
        <p:spPr>
          <a:xfrm rot="-8606011">
            <a:off x="-8092909" y="1287470"/>
            <a:ext cx="12060077" cy="9663166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7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60081" y="-5271919"/>
            <a:ext cx="10603018" cy="1028699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87"/>
          <p:cNvSpPr txBox="1"/>
          <p:nvPr/>
        </p:nvSpPr>
        <p:spPr>
          <a:xfrm>
            <a:off x="206945" y="1768553"/>
            <a:ext cx="11603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Case Study 1 – Market Basket Analysis</a:t>
            </a:r>
            <a:endParaRPr i="0" sz="4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4" name="Google Shape;234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3678" y="2628949"/>
            <a:ext cx="9920628" cy="765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3"/>
          <p:cNvSpPr/>
          <p:nvPr/>
        </p:nvSpPr>
        <p:spPr>
          <a:xfrm rot="-8606732">
            <a:off x="-6669050" y="5265213"/>
            <a:ext cx="10633743" cy="8642333"/>
          </a:xfrm>
          <a:custGeom>
            <a:rect b="b" l="l" r="r" t="t"/>
            <a:pathLst>
              <a:path extrusionOk="0" h="8650853" w="10644226">
                <a:moveTo>
                  <a:pt x="0" y="0"/>
                </a:moveTo>
                <a:lnTo>
                  <a:pt x="10644226" y="0"/>
                </a:lnTo>
                <a:lnTo>
                  <a:pt x="10644226" y="8650852"/>
                </a:lnTo>
                <a:lnTo>
                  <a:pt x="0" y="86508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83"/>
          <p:cNvSpPr txBox="1"/>
          <p:nvPr/>
        </p:nvSpPr>
        <p:spPr>
          <a:xfrm>
            <a:off x="593111" y="721105"/>
            <a:ext cx="148158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Case Study 2 – Related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" name="Google Shape;241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08704" y="-8258879"/>
            <a:ext cx="14815797" cy="14374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91386" y="1930750"/>
            <a:ext cx="11105216" cy="8356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8"/>
          <p:cNvSpPr/>
          <p:nvPr/>
        </p:nvSpPr>
        <p:spPr>
          <a:xfrm rot="-2389435">
            <a:off x="-10346754" y="-7745879"/>
            <a:ext cx="17605863" cy="17605863"/>
          </a:xfrm>
          <a:custGeom>
            <a:rect b="b" l="l" r="r" t="t"/>
            <a:pathLst>
              <a:path extrusionOk="0" h="17617704" w="17617704">
                <a:moveTo>
                  <a:pt x="0" y="0"/>
                </a:moveTo>
                <a:lnTo>
                  <a:pt x="17617704" y="0"/>
                </a:lnTo>
                <a:lnTo>
                  <a:pt x="17617704" y="17617703"/>
                </a:lnTo>
                <a:lnTo>
                  <a:pt x="0" y="176177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35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88"/>
          <p:cNvSpPr/>
          <p:nvPr/>
        </p:nvSpPr>
        <p:spPr>
          <a:xfrm flipH="1" rot="3986662">
            <a:off x="14305623" y="8171861"/>
            <a:ext cx="8070370" cy="6559010"/>
          </a:xfrm>
          <a:custGeom>
            <a:rect b="b" l="l" r="r" t="t"/>
            <a:pathLst>
              <a:path extrusionOk="0" h="6553094" w="8063091">
                <a:moveTo>
                  <a:pt x="8063091" y="0"/>
                </a:moveTo>
                <a:lnTo>
                  <a:pt x="0" y="0"/>
                </a:lnTo>
                <a:lnTo>
                  <a:pt x="0" y="6553094"/>
                </a:lnTo>
                <a:lnTo>
                  <a:pt x="8063091" y="6553094"/>
                </a:lnTo>
                <a:lnTo>
                  <a:pt x="8063091" y="0"/>
                </a:lnTo>
                <a:close/>
              </a:path>
            </a:pathLst>
          </a:custGeom>
          <a:blipFill rotWithShape="1">
            <a:blip r:embed="rId4">
              <a:alphaModFix amt="7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88"/>
          <p:cNvSpPr txBox="1"/>
          <p:nvPr/>
        </p:nvSpPr>
        <p:spPr>
          <a:xfrm>
            <a:off x="593111" y="721105"/>
            <a:ext cx="160281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Other </a:t>
            </a:r>
            <a:r>
              <a:rPr b="1" lang="en-US" sz="5000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applications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t/>
            </a:r>
            <a:endParaRPr b="1" i="0" sz="5000" u="none" cap="none" strike="noStrike">
              <a:solidFill>
                <a:srgbClr val="004AAD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88"/>
          <p:cNvSpPr txBox="1"/>
          <p:nvPr/>
        </p:nvSpPr>
        <p:spPr>
          <a:xfrm>
            <a:off x="2578340" y="2605311"/>
            <a:ext cx="13131300" cy="23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2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Catalog design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Classification</a:t>
            </a:r>
            <a:endParaRPr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82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Montserrat"/>
              <a:buChar char="●"/>
            </a:pPr>
            <a:r>
              <a:rPr lang="en-US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sz="40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57"/>
          <p:cNvSpPr txBox="1"/>
          <p:nvPr/>
        </p:nvSpPr>
        <p:spPr>
          <a:xfrm>
            <a:off x="1028700" y="3412483"/>
            <a:ext cx="12185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004AAD"/>
                </a:solidFill>
                <a:latin typeface="Montserrat"/>
                <a:ea typeface="Montserrat"/>
                <a:cs typeface="Montserrat"/>
                <a:sym typeface="Montserrat"/>
              </a:rPr>
              <a:t>Thank you for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57"/>
          <p:cNvSpPr/>
          <p:nvPr/>
        </p:nvSpPr>
        <p:spPr>
          <a:xfrm rot="-1770831">
            <a:off x="9624610" y="4440432"/>
            <a:ext cx="12108848" cy="9841191"/>
          </a:xfrm>
          <a:custGeom>
            <a:rect b="b" l="l" r="r" t="t"/>
            <a:pathLst>
              <a:path extrusionOk="0" h="9843868" w="12112141">
                <a:moveTo>
                  <a:pt x="0" y="0"/>
                </a:moveTo>
                <a:lnTo>
                  <a:pt x="12112141" y="0"/>
                </a:lnTo>
                <a:lnTo>
                  <a:pt x="12112141" y="9843868"/>
                </a:lnTo>
                <a:lnTo>
                  <a:pt x="0" y="98438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0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7"/>
          <p:cNvSpPr txBox="1"/>
          <p:nvPr/>
        </p:nvSpPr>
        <p:spPr>
          <a:xfrm>
            <a:off x="2112722" y="5071350"/>
            <a:ext cx="157326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30"/>
              <a:buFont typeface="Arial"/>
              <a:buNone/>
            </a:pPr>
            <a:r>
              <a:rPr b="1" i="0" lang="en-US" sz="10100" u="none" cap="none" strike="noStrike">
                <a:solidFill>
                  <a:srgbClr val="2BB4D4"/>
                </a:solidFill>
                <a:latin typeface="Montserrat"/>
                <a:ea typeface="Montserrat"/>
                <a:cs typeface="Montserrat"/>
                <a:sym typeface="Montserrat"/>
              </a:rPr>
              <a:t>your attention</a:t>
            </a:r>
            <a:endParaRPr b="0" i="0" sz="10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Song Thiên Long Nguyễn</dc:creator>
</cp:coreProperties>
</file>